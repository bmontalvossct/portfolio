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18288000" cy="10287000"/>
  <p:notesSz cx="6858000" cy="9144000"/>
  <p:embeddedFontLst>
    <p:embeddedFont>
      <p:font typeface="Anton" charset="1" panose="00000500000000000000"/>
      <p:regular r:id="rId61"/>
    </p:embeddedFont>
    <p:embeddedFont>
      <p:font typeface="Montserrat Semi-Bold Bold" charset="1" panose="00000800000000000000"/>
      <p:regular r:id="rId62"/>
    </p:embeddedFont>
    <p:embeddedFont>
      <p:font typeface="Montserrat Bold" charset="1" panose="00000600000000000000"/>
      <p:regular r:id="rId63"/>
    </p:embeddedFont>
    <p:embeddedFont>
      <p:font typeface="Montserrat Semi-Bold" charset="1" panose="00000700000000000000"/>
      <p:regular r:id="rId64"/>
    </p:embeddedFont>
    <p:embeddedFont>
      <p:font typeface="Montserrat" charset="1" panose="00000500000000000000"/>
      <p:regular r:id="rId65"/>
    </p:embeddedFont>
    <p:embeddedFont>
      <p:font typeface="Montserrat Italics" charset="1" panose="000005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16.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2" Target="../media/image1.png" Type="http://schemas.openxmlformats.org/officeDocument/2006/relationships/image"/><Relationship Id="rId3" Target="../media/image17.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20.pn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25.png" Type="http://schemas.openxmlformats.org/officeDocument/2006/relationships/image"/><Relationship Id="rId14" Target="../media/image26.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31.png" Type="http://schemas.openxmlformats.org/officeDocument/2006/relationships/image"/><Relationship Id="rId12" Target="../media/image32.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4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4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44.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2" Target="../media/image1.png" Type="http://schemas.openxmlformats.org/officeDocument/2006/relationships/image"/><Relationship Id="rId3" Target="../media/image4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46.png" Type="http://schemas.openxmlformats.org/officeDocument/2006/relationships/image"/><Relationship Id="rId12" Target="../media/image47.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50.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54.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55.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jpeg" Type="http://schemas.openxmlformats.org/officeDocument/2006/relationships/image"/><Relationship Id="rId2" Target="../media/image1.png" Type="http://schemas.openxmlformats.org/officeDocument/2006/relationships/image"/><Relationship Id="rId3" Target="../media/image58.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59.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60.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3.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6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7934325" cy="10287000"/>
            <a:chOff x="0" y="0"/>
            <a:chExt cx="10579100" cy="13716000"/>
          </a:xfrm>
        </p:grpSpPr>
        <p:pic>
          <p:nvPicPr>
            <p:cNvPr name="Picture 4" id="4"/>
            <p:cNvPicPr>
              <a:picLocks noChangeAspect="true"/>
            </p:cNvPicPr>
            <p:nvPr/>
          </p:nvPicPr>
          <p:blipFill>
            <a:blip r:embed="rId3"/>
            <a:srcRect l="0" t="0" r="0" b="15564"/>
            <a:stretch>
              <a:fillRect/>
            </a:stretch>
          </p:blipFill>
          <p:spPr>
            <a:xfrm flipH="false" flipV="false">
              <a:off x="0" y="0"/>
              <a:ext cx="10579100" cy="13716000"/>
            </a:xfrm>
            <a:prstGeom prst="rect">
              <a:avLst/>
            </a:prstGeom>
          </p:spPr>
        </p:pic>
      </p:grpSp>
      <p:grpSp>
        <p:nvGrpSpPr>
          <p:cNvPr name="Group 5" id="5"/>
          <p:cNvGrpSpPr/>
          <p:nvPr/>
        </p:nvGrpSpPr>
        <p:grpSpPr>
          <a:xfrm rot="0">
            <a:off x="9144000" y="2464845"/>
            <a:ext cx="1496914" cy="362504"/>
            <a:chOff x="0" y="0"/>
            <a:chExt cx="1678175" cy="406400"/>
          </a:xfrm>
        </p:grpSpPr>
        <p:sp>
          <p:nvSpPr>
            <p:cNvPr name="Freeform 6" id="6"/>
            <p:cNvSpPr/>
            <p:nvPr/>
          </p:nvSpPr>
          <p:spPr>
            <a:xfrm flipH="false" flipV="false" rot="0">
              <a:off x="0" y="0"/>
              <a:ext cx="1678175" cy="406400"/>
            </a:xfrm>
            <a:custGeom>
              <a:avLst/>
              <a:gdLst/>
              <a:ahLst/>
              <a:cxnLst/>
              <a:rect r="r" b="b" t="t" l="l"/>
              <a:pathLst>
                <a:path h="406400" w="1678175">
                  <a:moveTo>
                    <a:pt x="1474975" y="0"/>
                  </a:moveTo>
                  <a:cubicBezTo>
                    <a:pt x="1587200" y="0"/>
                    <a:pt x="1678175" y="90976"/>
                    <a:pt x="1678175" y="203200"/>
                  </a:cubicBezTo>
                  <a:cubicBezTo>
                    <a:pt x="1678175" y="315424"/>
                    <a:pt x="1587200" y="406400"/>
                    <a:pt x="1474975" y="406400"/>
                  </a:cubicBezTo>
                  <a:lnTo>
                    <a:pt x="203200" y="406400"/>
                  </a:lnTo>
                  <a:cubicBezTo>
                    <a:pt x="90976" y="406400"/>
                    <a:pt x="0" y="315424"/>
                    <a:pt x="0" y="203200"/>
                  </a:cubicBezTo>
                  <a:cubicBezTo>
                    <a:pt x="0" y="90976"/>
                    <a:pt x="90976" y="0"/>
                    <a:pt x="203200" y="0"/>
                  </a:cubicBezTo>
                  <a:close/>
                </a:path>
              </a:pathLst>
            </a:custGeom>
            <a:solidFill>
              <a:srgbClr val="00B2BD"/>
            </a:solidFill>
          </p:spPr>
        </p:sp>
        <p:sp>
          <p:nvSpPr>
            <p:cNvPr name="TextBox 7" id="7"/>
            <p:cNvSpPr txBox="true"/>
            <p:nvPr/>
          </p:nvSpPr>
          <p:spPr>
            <a:xfrm>
              <a:off x="0" y="-38100"/>
              <a:ext cx="1678175" cy="444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rot="0">
            <a:off x="10640914" y="2627048"/>
            <a:ext cx="3626498" cy="38100"/>
          </a:xfrm>
          <a:prstGeom prst="line">
            <a:avLst/>
          </a:prstGeom>
          <a:ln cap="flat" w="38100">
            <a:solidFill>
              <a:srgbClr val="00B2BD"/>
            </a:solidFill>
            <a:prstDash val="solid"/>
            <a:headEnd type="none" len="sm" w="sm"/>
            <a:tailEnd type="none" len="sm" w="sm"/>
          </a:ln>
        </p:spPr>
      </p:sp>
      <p:grpSp>
        <p:nvGrpSpPr>
          <p:cNvPr name="Group 9" id="9"/>
          <p:cNvGrpSpPr/>
          <p:nvPr/>
        </p:nvGrpSpPr>
        <p:grpSpPr>
          <a:xfrm rot="-2700000">
            <a:off x="7087605" y="4370046"/>
            <a:ext cx="16683427" cy="7187469"/>
            <a:chOff x="0" y="0"/>
            <a:chExt cx="4393989" cy="1892996"/>
          </a:xfrm>
        </p:grpSpPr>
        <p:sp>
          <p:nvSpPr>
            <p:cNvPr name="Freeform 10" id="10"/>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1" id="11"/>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9144000" y="662178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513900" y="662178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9883800" y="662178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9144000" y="3005442"/>
            <a:ext cx="9144000" cy="1919585"/>
          </a:xfrm>
          <a:prstGeom prst="rect">
            <a:avLst/>
          </a:prstGeom>
        </p:spPr>
        <p:txBody>
          <a:bodyPr anchor="t" rtlCol="false" tIns="0" lIns="0" bIns="0" rIns="0">
            <a:spAutoFit/>
          </a:bodyPr>
          <a:lstStyle/>
          <a:p>
            <a:pPr algn="l">
              <a:lnSpc>
                <a:spcPts val="15774"/>
              </a:lnSpc>
            </a:pPr>
            <a:r>
              <a:rPr lang="en-US" sz="11267" spc="439">
                <a:solidFill>
                  <a:srgbClr val="292929"/>
                </a:solidFill>
                <a:latin typeface="Anton"/>
                <a:ea typeface="Anton"/>
                <a:cs typeface="Anton"/>
                <a:sym typeface="Anton"/>
              </a:rPr>
              <a:t>LEARNING</a:t>
            </a:r>
          </a:p>
        </p:txBody>
      </p:sp>
      <p:sp>
        <p:nvSpPr>
          <p:cNvPr name="TextBox 17" id="17"/>
          <p:cNvSpPr txBox="true"/>
          <p:nvPr/>
        </p:nvSpPr>
        <p:spPr>
          <a:xfrm rot="0">
            <a:off x="9144000" y="4468633"/>
            <a:ext cx="9144000" cy="1919585"/>
          </a:xfrm>
          <a:prstGeom prst="rect">
            <a:avLst/>
          </a:prstGeom>
        </p:spPr>
        <p:txBody>
          <a:bodyPr anchor="t" rtlCol="false" tIns="0" lIns="0" bIns="0" rIns="0">
            <a:spAutoFit/>
          </a:bodyPr>
          <a:lstStyle/>
          <a:p>
            <a:pPr algn="l">
              <a:lnSpc>
                <a:spcPts val="15774"/>
              </a:lnSpc>
            </a:pPr>
            <a:r>
              <a:rPr lang="en-US" sz="11267" spc="439">
                <a:solidFill>
                  <a:srgbClr val="292929"/>
                </a:solidFill>
                <a:latin typeface="Anton"/>
                <a:ea typeface="Anton"/>
                <a:cs typeface="Anton"/>
                <a:sym typeface="Anton"/>
              </a:rPr>
              <a:t>THEORIES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4642393"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OBJECTIVES</a:t>
            </a:r>
          </a:p>
        </p:txBody>
      </p:sp>
      <p:sp>
        <p:nvSpPr>
          <p:cNvPr name="TextBox 9" id="9"/>
          <p:cNvSpPr txBox="true"/>
          <p:nvPr/>
        </p:nvSpPr>
        <p:spPr>
          <a:xfrm rot="0">
            <a:off x="1685988" y="1816861"/>
            <a:ext cx="11551612" cy="1325499"/>
          </a:xfrm>
          <a:prstGeom prst="rect">
            <a:avLst/>
          </a:prstGeom>
        </p:spPr>
        <p:txBody>
          <a:bodyPr anchor="t" rtlCol="false" tIns="0" lIns="0" bIns="0" rIns="0">
            <a:spAutoFit/>
          </a:bodyPr>
          <a:lstStyle/>
          <a:p>
            <a:pPr algn="just" marL="712468" indent="-356234" lvl="1">
              <a:lnSpc>
                <a:spcPts val="3497"/>
              </a:lnSpc>
              <a:buFont typeface="Arial"/>
              <a:buChar char="•"/>
            </a:pPr>
            <a:r>
              <a:rPr lang="en-US" b="true" sz="3299" spc="-89">
                <a:solidFill>
                  <a:srgbClr val="007076"/>
                </a:solidFill>
                <a:latin typeface="Montserrat Bold"/>
                <a:ea typeface="Montserrat Bold"/>
                <a:cs typeface="Montserrat Bold"/>
                <a:sym typeface="Montserrat Bold"/>
              </a:rPr>
              <a:t>Discuss the operational definition of terms that are directly related to learning;</a:t>
            </a:r>
          </a:p>
          <a:p>
            <a:pPr algn="just">
              <a:lnSpc>
                <a:spcPts val="3497"/>
              </a:lnSpc>
            </a:pPr>
          </a:p>
        </p:txBody>
      </p:sp>
      <p:sp>
        <p:nvSpPr>
          <p:cNvPr name="TextBox 10" id="10"/>
          <p:cNvSpPr txBox="true"/>
          <p:nvPr/>
        </p:nvSpPr>
        <p:spPr>
          <a:xfrm rot="0">
            <a:off x="1685988" y="3139463"/>
            <a:ext cx="11551612" cy="1325499"/>
          </a:xfrm>
          <a:prstGeom prst="rect">
            <a:avLst/>
          </a:prstGeom>
        </p:spPr>
        <p:txBody>
          <a:bodyPr anchor="t" rtlCol="false" tIns="0" lIns="0" bIns="0" rIns="0">
            <a:spAutoFit/>
          </a:bodyPr>
          <a:lstStyle/>
          <a:p>
            <a:pPr algn="just" marL="712468" indent="-356234" lvl="1">
              <a:lnSpc>
                <a:spcPts val="3497"/>
              </a:lnSpc>
              <a:buFont typeface="Arial"/>
              <a:buChar char="•"/>
            </a:pPr>
            <a:r>
              <a:rPr lang="en-US" b="true" sz="3299" spc="-89">
                <a:solidFill>
                  <a:srgbClr val="007076"/>
                </a:solidFill>
                <a:latin typeface="Montserrat Bold"/>
                <a:ea typeface="Montserrat Bold"/>
                <a:cs typeface="Montserrat Bold"/>
                <a:sym typeface="Montserrat Bold"/>
              </a:rPr>
              <a:t>Examine the existing learning theories and its applicability to various settings;</a:t>
            </a:r>
          </a:p>
          <a:p>
            <a:pPr algn="just">
              <a:lnSpc>
                <a:spcPts val="3497"/>
              </a:lnSpc>
            </a:pPr>
          </a:p>
        </p:txBody>
      </p:sp>
      <p:sp>
        <p:nvSpPr>
          <p:cNvPr name="TextBox 11" id="11"/>
          <p:cNvSpPr txBox="true"/>
          <p:nvPr/>
        </p:nvSpPr>
        <p:spPr>
          <a:xfrm rot="0">
            <a:off x="1685988" y="4512586"/>
            <a:ext cx="11551612" cy="1325499"/>
          </a:xfrm>
          <a:prstGeom prst="rect">
            <a:avLst/>
          </a:prstGeom>
        </p:spPr>
        <p:txBody>
          <a:bodyPr anchor="t" rtlCol="false" tIns="0" lIns="0" bIns="0" rIns="0">
            <a:spAutoFit/>
          </a:bodyPr>
          <a:lstStyle/>
          <a:p>
            <a:pPr algn="just" marL="712468" indent="-356234" lvl="1">
              <a:lnSpc>
                <a:spcPts val="3497"/>
              </a:lnSpc>
              <a:buFont typeface="Arial"/>
              <a:buChar char="•"/>
            </a:pPr>
            <a:r>
              <a:rPr lang="en-US" b="true" sz="3299" spc="-89">
                <a:solidFill>
                  <a:srgbClr val="007076"/>
                </a:solidFill>
                <a:latin typeface="Montserrat Bold"/>
                <a:ea typeface="Montserrat Bold"/>
                <a:cs typeface="Montserrat Bold"/>
                <a:sym typeface="Montserrat Bold"/>
              </a:rPr>
              <a:t>Share our personal understanding of the relevance of learning theories in health education; and,</a:t>
            </a:r>
          </a:p>
          <a:p>
            <a:pPr algn="just">
              <a:lnSpc>
                <a:spcPts val="3497"/>
              </a:lnSpc>
            </a:pPr>
          </a:p>
        </p:txBody>
      </p:sp>
      <p:sp>
        <p:nvSpPr>
          <p:cNvPr name="TextBox 12" id="12"/>
          <p:cNvSpPr txBox="true"/>
          <p:nvPr/>
        </p:nvSpPr>
        <p:spPr>
          <a:xfrm rot="0">
            <a:off x="1685988" y="5956120"/>
            <a:ext cx="11551612" cy="1325499"/>
          </a:xfrm>
          <a:prstGeom prst="rect">
            <a:avLst/>
          </a:prstGeom>
        </p:spPr>
        <p:txBody>
          <a:bodyPr anchor="t" rtlCol="false" tIns="0" lIns="0" bIns="0" rIns="0">
            <a:spAutoFit/>
          </a:bodyPr>
          <a:lstStyle/>
          <a:p>
            <a:pPr algn="just" marL="712468" indent="-356234" lvl="1">
              <a:lnSpc>
                <a:spcPts val="3497"/>
              </a:lnSpc>
              <a:buFont typeface="Arial"/>
              <a:buChar char="•"/>
            </a:pPr>
            <a:r>
              <a:rPr lang="en-US" b="true" sz="3299" spc="-89">
                <a:solidFill>
                  <a:srgbClr val="007076"/>
                </a:solidFill>
                <a:latin typeface="Montserrat Bold"/>
                <a:ea typeface="Montserrat Bold"/>
                <a:cs typeface="Montserrat Bold"/>
                <a:sym typeface="Montserrat Bold"/>
              </a:rPr>
              <a:t>Share our personal understanding of the relevance of learning theories in health education; and,</a:t>
            </a:r>
          </a:p>
          <a:p>
            <a:pPr algn="just">
              <a:lnSpc>
                <a:spcPts val="349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363" y="0"/>
            <a:ext cx="18290363" cy="1787528"/>
            <a:chOff x="0" y="0"/>
            <a:chExt cx="4817215" cy="470789"/>
          </a:xfrm>
        </p:grpSpPr>
        <p:sp>
          <p:nvSpPr>
            <p:cNvPr name="Freeform 5" id="5"/>
            <p:cNvSpPr/>
            <p:nvPr/>
          </p:nvSpPr>
          <p:spPr>
            <a:xfrm flipH="false" flipV="false" rot="0">
              <a:off x="0" y="0"/>
              <a:ext cx="4817215" cy="470789"/>
            </a:xfrm>
            <a:custGeom>
              <a:avLst/>
              <a:gdLst/>
              <a:ahLst/>
              <a:cxnLst/>
              <a:rect r="r" b="b" t="t" l="l"/>
              <a:pathLst>
                <a:path h="470789" w="4817215">
                  <a:moveTo>
                    <a:pt x="0" y="0"/>
                  </a:moveTo>
                  <a:lnTo>
                    <a:pt x="4817215" y="0"/>
                  </a:lnTo>
                  <a:lnTo>
                    <a:pt x="4817215" y="470789"/>
                  </a:lnTo>
                  <a:lnTo>
                    <a:pt x="0" y="470789"/>
                  </a:lnTo>
                  <a:close/>
                </a:path>
              </a:pathLst>
            </a:custGeom>
            <a:solidFill>
              <a:srgbClr val="FFFFFF"/>
            </a:solidFill>
          </p:spPr>
        </p:sp>
        <p:sp>
          <p:nvSpPr>
            <p:cNvPr name="TextBox 6" id="6"/>
            <p:cNvSpPr txBox="true"/>
            <p:nvPr/>
          </p:nvSpPr>
          <p:spPr>
            <a:xfrm>
              <a:off x="0" y="-38100"/>
              <a:ext cx="4817215" cy="508889"/>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66913" y="13010"/>
            <a:ext cx="7311123" cy="1708156"/>
          </a:xfrm>
          <a:prstGeom prst="rect">
            <a:avLst/>
          </a:prstGeom>
        </p:spPr>
        <p:txBody>
          <a:bodyPr anchor="t" rtlCol="false" tIns="0" lIns="0" bIns="0" rIns="0">
            <a:spAutoFit/>
          </a:bodyPr>
          <a:lstStyle/>
          <a:p>
            <a:pPr algn="just">
              <a:lnSpc>
                <a:spcPts val="13999"/>
              </a:lnSpc>
            </a:pPr>
            <a:r>
              <a:rPr lang="en-US" sz="9999" spc="1899">
                <a:solidFill>
                  <a:srgbClr val="292929"/>
                </a:solidFill>
                <a:latin typeface="Anton"/>
                <a:ea typeface="Anton"/>
                <a:cs typeface="Anton"/>
                <a:sym typeface="Anton"/>
              </a:rPr>
              <a:t>OUTLINE</a:t>
            </a:r>
          </a:p>
        </p:txBody>
      </p:sp>
      <p:sp>
        <p:nvSpPr>
          <p:cNvPr name="TextBox 11" id="11"/>
          <p:cNvSpPr txBox="true"/>
          <p:nvPr/>
        </p:nvSpPr>
        <p:spPr>
          <a:xfrm rot="0">
            <a:off x="442281" y="2383154"/>
            <a:ext cx="1912638" cy="866775"/>
          </a:xfrm>
          <a:prstGeom prst="rect">
            <a:avLst/>
          </a:prstGeom>
        </p:spPr>
        <p:txBody>
          <a:bodyPr anchor="t" rtlCol="false" tIns="0" lIns="0" bIns="0" rIns="0">
            <a:spAutoFit/>
          </a:bodyPr>
          <a:lstStyle/>
          <a:p>
            <a:pPr algn="l">
              <a:lnSpc>
                <a:spcPts val="6899"/>
              </a:lnSpc>
            </a:pPr>
            <a:r>
              <a:rPr lang="en-US" sz="5999" spc="233">
                <a:solidFill>
                  <a:srgbClr val="FFFFFF"/>
                </a:solidFill>
                <a:latin typeface="Anton"/>
                <a:ea typeface="Anton"/>
                <a:cs typeface="Anton"/>
                <a:sym typeface="Anton"/>
              </a:rPr>
              <a:t>01</a:t>
            </a:r>
          </a:p>
        </p:txBody>
      </p:sp>
      <p:sp>
        <p:nvSpPr>
          <p:cNvPr name="TextBox 12" id="12"/>
          <p:cNvSpPr txBox="true"/>
          <p:nvPr/>
        </p:nvSpPr>
        <p:spPr>
          <a:xfrm rot="0">
            <a:off x="1682775" y="2533966"/>
            <a:ext cx="16055098" cy="1158875"/>
          </a:xfrm>
          <a:prstGeom prst="rect">
            <a:avLst/>
          </a:prstGeom>
        </p:spPr>
        <p:txBody>
          <a:bodyPr anchor="t" rtlCol="false" tIns="0" lIns="0" bIns="0" rIns="0">
            <a:spAutoFit/>
          </a:bodyPr>
          <a:lstStyle/>
          <a:p>
            <a:pPr algn="just">
              <a:lnSpc>
                <a:spcPts val="4599"/>
              </a:lnSpc>
            </a:pPr>
            <a:r>
              <a:rPr lang="en-US" b="true" sz="3999" spc="-107">
                <a:solidFill>
                  <a:srgbClr val="FFFFFF"/>
                </a:solidFill>
                <a:latin typeface="Montserrat Bold"/>
                <a:ea typeface="Montserrat Bold"/>
                <a:cs typeface="Montserrat Bold"/>
                <a:sym typeface="Montserrat Bold"/>
              </a:rPr>
              <a:t>Discuss the operational definition of learning. </a:t>
            </a:r>
          </a:p>
          <a:p>
            <a:pPr algn="just">
              <a:lnSpc>
                <a:spcPts val="4599"/>
              </a:lnSpc>
            </a:pPr>
          </a:p>
        </p:txBody>
      </p:sp>
      <p:sp>
        <p:nvSpPr>
          <p:cNvPr name="TextBox 13" id="13"/>
          <p:cNvSpPr txBox="true"/>
          <p:nvPr/>
        </p:nvSpPr>
        <p:spPr>
          <a:xfrm rot="0">
            <a:off x="1682775" y="3863493"/>
            <a:ext cx="16055098" cy="577850"/>
          </a:xfrm>
          <a:prstGeom prst="rect">
            <a:avLst/>
          </a:prstGeom>
        </p:spPr>
        <p:txBody>
          <a:bodyPr anchor="t" rtlCol="false" tIns="0" lIns="0" bIns="0" rIns="0">
            <a:spAutoFit/>
          </a:bodyPr>
          <a:lstStyle/>
          <a:p>
            <a:pPr algn="just">
              <a:lnSpc>
                <a:spcPts val="4599"/>
              </a:lnSpc>
            </a:pPr>
            <a:r>
              <a:rPr lang="en-US" b="true" sz="3999" spc="-107">
                <a:solidFill>
                  <a:srgbClr val="FFFFFF"/>
                </a:solidFill>
                <a:latin typeface="Montserrat Bold"/>
                <a:ea typeface="Montserrat Bold"/>
                <a:cs typeface="Montserrat Bold"/>
                <a:sym typeface="Montserrat Bold"/>
              </a:rPr>
              <a:t>Examine the 6 learning theories.</a:t>
            </a:r>
          </a:p>
        </p:txBody>
      </p:sp>
      <p:sp>
        <p:nvSpPr>
          <p:cNvPr name="TextBox 14" id="14"/>
          <p:cNvSpPr txBox="true"/>
          <p:nvPr/>
        </p:nvSpPr>
        <p:spPr>
          <a:xfrm rot="0">
            <a:off x="356556" y="3693948"/>
            <a:ext cx="1912638" cy="866775"/>
          </a:xfrm>
          <a:prstGeom prst="rect">
            <a:avLst/>
          </a:prstGeom>
        </p:spPr>
        <p:txBody>
          <a:bodyPr anchor="t" rtlCol="false" tIns="0" lIns="0" bIns="0" rIns="0">
            <a:spAutoFit/>
          </a:bodyPr>
          <a:lstStyle/>
          <a:p>
            <a:pPr algn="l">
              <a:lnSpc>
                <a:spcPts val="6899"/>
              </a:lnSpc>
            </a:pPr>
            <a:r>
              <a:rPr lang="en-US" sz="5999" spc="233">
                <a:solidFill>
                  <a:srgbClr val="FFFFFF"/>
                </a:solidFill>
                <a:latin typeface="Anton"/>
                <a:ea typeface="Anton"/>
                <a:cs typeface="Anton"/>
                <a:sym typeface="Anton"/>
              </a:rPr>
              <a:t>02</a:t>
            </a:r>
          </a:p>
        </p:txBody>
      </p:sp>
      <p:sp>
        <p:nvSpPr>
          <p:cNvPr name="TextBox 15" id="15"/>
          <p:cNvSpPr txBox="true"/>
          <p:nvPr/>
        </p:nvSpPr>
        <p:spPr>
          <a:xfrm rot="0">
            <a:off x="356556" y="4956964"/>
            <a:ext cx="1912638" cy="866775"/>
          </a:xfrm>
          <a:prstGeom prst="rect">
            <a:avLst/>
          </a:prstGeom>
        </p:spPr>
        <p:txBody>
          <a:bodyPr anchor="t" rtlCol="false" tIns="0" lIns="0" bIns="0" rIns="0">
            <a:spAutoFit/>
          </a:bodyPr>
          <a:lstStyle/>
          <a:p>
            <a:pPr algn="l">
              <a:lnSpc>
                <a:spcPts val="6899"/>
              </a:lnSpc>
            </a:pPr>
            <a:r>
              <a:rPr lang="en-US" sz="5999" spc="233">
                <a:solidFill>
                  <a:srgbClr val="FFFFFF"/>
                </a:solidFill>
                <a:latin typeface="Anton"/>
                <a:ea typeface="Anton"/>
                <a:cs typeface="Anton"/>
                <a:sym typeface="Anton"/>
              </a:rPr>
              <a:t>03</a:t>
            </a:r>
          </a:p>
        </p:txBody>
      </p:sp>
      <p:sp>
        <p:nvSpPr>
          <p:cNvPr name="TextBox 16" id="16"/>
          <p:cNvSpPr txBox="true"/>
          <p:nvPr/>
        </p:nvSpPr>
        <p:spPr>
          <a:xfrm rot="0">
            <a:off x="1682775" y="5136034"/>
            <a:ext cx="16055098" cy="1158875"/>
          </a:xfrm>
          <a:prstGeom prst="rect">
            <a:avLst/>
          </a:prstGeom>
        </p:spPr>
        <p:txBody>
          <a:bodyPr anchor="t" rtlCol="false" tIns="0" lIns="0" bIns="0" rIns="0">
            <a:spAutoFit/>
          </a:bodyPr>
          <a:lstStyle/>
          <a:p>
            <a:pPr algn="just">
              <a:lnSpc>
                <a:spcPts val="4599"/>
              </a:lnSpc>
            </a:pPr>
            <a:r>
              <a:rPr lang="en-US" b="true" sz="3999" spc="-107">
                <a:solidFill>
                  <a:srgbClr val="FFFFFF"/>
                </a:solidFill>
                <a:latin typeface="Montserrat Bold"/>
                <a:ea typeface="Montserrat Bold"/>
                <a:cs typeface="Montserrat Bold"/>
                <a:sym typeface="Montserrat Bold"/>
              </a:rPr>
              <a:t>Delve into the concepts of classical and operational conditioning. </a:t>
            </a:r>
          </a:p>
          <a:p>
            <a:pPr algn="just">
              <a:lnSpc>
                <a:spcPts val="4599"/>
              </a:lnSpc>
            </a:pPr>
          </a:p>
        </p:txBody>
      </p:sp>
      <p:sp>
        <p:nvSpPr>
          <p:cNvPr name="TextBox 17" id="17"/>
          <p:cNvSpPr txBox="true"/>
          <p:nvPr/>
        </p:nvSpPr>
        <p:spPr>
          <a:xfrm rot="0">
            <a:off x="356556" y="6353086"/>
            <a:ext cx="1912638" cy="866775"/>
          </a:xfrm>
          <a:prstGeom prst="rect">
            <a:avLst/>
          </a:prstGeom>
        </p:spPr>
        <p:txBody>
          <a:bodyPr anchor="t" rtlCol="false" tIns="0" lIns="0" bIns="0" rIns="0">
            <a:spAutoFit/>
          </a:bodyPr>
          <a:lstStyle/>
          <a:p>
            <a:pPr algn="l">
              <a:lnSpc>
                <a:spcPts val="6899"/>
              </a:lnSpc>
            </a:pPr>
            <a:r>
              <a:rPr lang="en-US" sz="5999" spc="233">
                <a:solidFill>
                  <a:srgbClr val="FFFFFF"/>
                </a:solidFill>
                <a:latin typeface="Anton"/>
                <a:ea typeface="Anton"/>
                <a:cs typeface="Anton"/>
                <a:sym typeface="Anton"/>
              </a:rPr>
              <a:t>04</a:t>
            </a:r>
          </a:p>
        </p:txBody>
      </p:sp>
      <p:sp>
        <p:nvSpPr>
          <p:cNvPr name="TextBox 18" id="18"/>
          <p:cNvSpPr txBox="true"/>
          <p:nvPr/>
        </p:nvSpPr>
        <p:spPr>
          <a:xfrm rot="0">
            <a:off x="1682775" y="6466359"/>
            <a:ext cx="16055098" cy="1100455"/>
          </a:xfrm>
          <a:prstGeom prst="rect">
            <a:avLst/>
          </a:prstGeom>
        </p:spPr>
        <p:txBody>
          <a:bodyPr anchor="t" rtlCol="false" tIns="0" lIns="0" bIns="0" rIns="0">
            <a:spAutoFit/>
          </a:bodyPr>
          <a:lstStyle/>
          <a:p>
            <a:pPr algn="just">
              <a:lnSpc>
                <a:spcPts val="4599"/>
              </a:lnSpc>
            </a:pPr>
            <a:r>
              <a:rPr lang="en-US" b="true" sz="3999" spc="-107">
                <a:solidFill>
                  <a:srgbClr val="FFFFFF"/>
                </a:solidFill>
                <a:latin typeface="Montserrat Bold"/>
                <a:ea typeface="Montserrat Bold"/>
                <a:cs typeface="Montserrat Bold"/>
                <a:sym typeface="Montserrat Bold"/>
              </a:rPr>
              <a:t>Discuss the types and relevance of multiple intelligences. </a:t>
            </a:r>
          </a:p>
          <a:p>
            <a:pPr algn="just">
              <a:lnSpc>
                <a:spcPts val="413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6630471" y="2082139"/>
            <a:ext cx="5027057" cy="6122721"/>
            <a:chOff x="0" y="0"/>
            <a:chExt cx="1323999" cy="1612569"/>
          </a:xfrm>
        </p:grpSpPr>
        <p:sp>
          <p:nvSpPr>
            <p:cNvPr name="Freeform 8" id="8"/>
            <p:cNvSpPr/>
            <p:nvPr/>
          </p:nvSpPr>
          <p:spPr>
            <a:xfrm flipH="false" flipV="false" rot="0">
              <a:off x="0" y="0"/>
              <a:ext cx="1323999" cy="1612569"/>
            </a:xfrm>
            <a:custGeom>
              <a:avLst/>
              <a:gdLst/>
              <a:ahLst/>
              <a:cxnLst/>
              <a:rect r="r" b="b" t="t" l="l"/>
              <a:pathLst>
                <a:path h="1612569" w="1323999">
                  <a:moveTo>
                    <a:pt x="0" y="0"/>
                  </a:moveTo>
                  <a:lnTo>
                    <a:pt x="1323999" y="0"/>
                  </a:lnTo>
                  <a:lnTo>
                    <a:pt x="1323999" y="1612569"/>
                  </a:lnTo>
                  <a:lnTo>
                    <a:pt x="0" y="1612569"/>
                  </a:lnTo>
                  <a:close/>
                </a:path>
              </a:pathLst>
            </a:custGeom>
            <a:solidFill>
              <a:srgbClr val="00949D"/>
            </a:solidFill>
          </p:spPr>
        </p:sp>
        <p:sp>
          <p:nvSpPr>
            <p:cNvPr name="TextBox 9" id="9"/>
            <p:cNvSpPr txBox="true"/>
            <p:nvPr/>
          </p:nvSpPr>
          <p:spPr>
            <a:xfrm>
              <a:off x="0" y="-38100"/>
              <a:ext cx="1323999" cy="165066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1031914" y="2082139"/>
            <a:ext cx="5027057" cy="6122721"/>
            <a:chOff x="0" y="0"/>
            <a:chExt cx="8009835" cy="9755605"/>
          </a:xfrm>
        </p:grpSpPr>
        <p:sp>
          <p:nvSpPr>
            <p:cNvPr name="Freeform 14" id="14"/>
            <p:cNvSpPr/>
            <p:nvPr/>
          </p:nvSpPr>
          <p:spPr>
            <a:xfrm flipH="false" flipV="false" rot="0">
              <a:off x="0" y="0"/>
              <a:ext cx="8009835" cy="9755605"/>
            </a:xfrm>
            <a:custGeom>
              <a:avLst/>
              <a:gdLst/>
              <a:ahLst/>
              <a:cxnLst/>
              <a:rect r="r" b="b" t="t" l="l"/>
              <a:pathLst>
                <a:path h="9755605" w="8009835">
                  <a:moveTo>
                    <a:pt x="0" y="0"/>
                  </a:moveTo>
                  <a:lnTo>
                    <a:pt x="0" y="9755605"/>
                  </a:lnTo>
                  <a:lnTo>
                    <a:pt x="8009835" y="9755605"/>
                  </a:lnTo>
                  <a:lnTo>
                    <a:pt x="8009835" y="0"/>
                  </a:lnTo>
                  <a:lnTo>
                    <a:pt x="0" y="0"/>
                  </a:lnTo>
                  <a:close/>
                  <a:moveTo>
                    <a:pt x="7948875" y="9694645"/>
                  </a:moveTo>
                  <a:lnTo>
                    <a:pt x="59690" y="9694645"/>
                  </a:lnTo>
                  <a:lnTo>
                    <a:pt x="59690" y="59690"/>
                  </a:lnTo>
                  <a:lnTo>
                    <a:pt x="7948875" y="59690"/>
                  </a:lnTo>
                  <a:lnTo>
                    <a:pt x="7948875" y="9694645"/>
                  </a:lnTo>
                  <a:close/>
                </a:path>
              </a:pathLst>
            </a:custGeom>
            <a:solidFill>
              <a:srgbClr val="00B2BD"/>
            </a:solidFill>
          </p:spPr>
        </p:sp>
      </p:grpSp>
      <p:sp>
        <p:nvSpPr>
          <p:cNvPr name="TextBox 15" id="15"/>
          <p:cNvSpPr txBox="true"/>
          <p:nvPr/>
        </p:nvSpPr>
        <p:spPr>
          <a:xfrm rot="0">
            <a:off x="4841659" y="625031"/>
            <a:ext cx="8797015" cy="883538"/>
          </a:xfrm>
          <a:prstGeom prst="rect">
            <a:avLst/>
          </a:prstGeom>
        </p:spPr>
        <p:txBody>
          <a:bodyPr anchor="t" rtlCol="false" tIns="0" lIns="0" bIns="0" rIns="0">
            <a:spAutoFit/>
          </a:bodyPr>
          <a:lstStyle/>
          <a:p>
            <a:pPr algn="r">
              <a:lnSpc>
                <a:spcPts val="6677"/>
              </a:lnSpc>
            </a:pPr>
            <a:r>
              <a:rPr lang="en-US" sz="6299" spc="-170">
                <a:solidFill>
                  <a:srgbClr val="007076"/>
                </a:solidFill>
                <a:latin typeface="Montserrat Semi-Bold"/>
                <a:ea typeface="Montserrat Semi-Bold"/>
                <a:cs typeface="Montserrat Semi-Bold"/>
                <a:sym typeface="Montserrat Semi-Bold"/>
              </a:rPr>
              <a:t>WHAT IS LEARNING?</a:t>
            </a:r>
          </a:p>
        </p:txBody>
      </p:sp>
      <p:sp>
        <p:nvSpPr>
          <p:cNvPr name="TextBox 16" id="16"/>
          <p:cNvSpPr txBox="true"/>
          <p:nvPr/>
        </p:nvSpPr>
        <p:spPr>
          <a:xfrm rot="0">
            <a:off x="1212101" y="2244407"/>
            <a:ext cx="4827032" cy="5731510"/>
          </a:xfrm>
          <a:prstGeom prst="rect">
            <a:avLst/>
          </a:prstGeom>
        </p:spPr>
        <p:txBody>
          <a:bodyPr anchor="t" rtlCol="false" tIns="0" lIns="0" bIns="0" rIns="0">
            <a:spAutoFit/>
          </a:bodyPr>
          <a:lstStyle/>
          <a:p>
            <a:pPr algn="l">
              <a:lnSpc>
                <a:spcPts val="4619"/>
              </a:lnSpc>
            </a:pPr>
            <a:r>
              <a:rPr lang="en-US" sz="3299" spc="-89" b="true">
                <a:solidFill>
                  <a:srgbClr val="007076"/>
                </a:solidFill>
                <a:latin typeface="Montserrat Bold"/>
                <a:ea typeface="Montserrat Bold"/>
                <a:cs typeface="Montserrat Bold"/>
                <a:sym typeface="Montserrat Bold"/>
              </a:rPr>
              <a:t>“a persisting change in human performance  or performance potential . . . (brought) about as a result of the learner’s interaction with the environment”  </a:t>
            </a:r>
          </a:p>
          <a:p>
            <a:pPr algn="l">
              <a:lnSpc>
                <a:spcPts val="4619"/>
              </a:lnSpc>
            </a:pPr>
          </a:p>
          <a:p>
            <a:pPr algn="l">
              <a:lnSpc>
                <a:spcPts val="4619"/>
              </a:lnSpc>
            </a:pPr>
            <a:r>
              <a:rPr lang="en-US" sz="3299" spc="-89" b="true">
                <a:solidFill>
                  <a:srgbClr val="007076"/>
                </a:solidFill>
                <a:latin typeface="Montserrat Bold"/>
                <a:ea typeface="Montserrat Bold"/>
                <a:cs typeface="Montserrat Bold"/>
                <a:sym typeface="Montserrat Bold"/>
              </a:rPr>
              <a:t>-(Driscoll, 1994, pp. 8-9).   </a:t>
            </a:r>
          </a:p>
          <a:p>
            <a:pPr algn="l">
              <a:lnSpc>
                <a:spcPts val="4060"/>
              </a:lnSpc>
            </a:pPr>
          </a:p>
        </p:txBody>
      </p:sp>
      <p:grpSp>
        <p:nvGrpSpPr>
          <p:cNvPr name="Group 17" id="17"/>
          <p:cNvGrpSpPr/>
          <p:nvPr/>
        </p:nvGrpSpPr>
        <p:grpSpPr>
          <a:xfrm rot="0">
            <a:off x="12232243" y="2082139"/>
            <a:ext cx="5027057" cy="6122721"/>
            <a:chOff x="0" y="0"/>
            <a:chExt cx="8009835" cy="9755605"/>
          </a:xfrm>
        </p:grpSpPr>
        <p:sp>
          <p:nvSpPr>
            <p:cNvPr name="Freeform 18" id="18"/>
            <p:cNvSpPr/>
            <p:nvPr/>
          </p:nvSpPr>
          <p:spPr>
            <a:xfrm flipH="false" flipV="false" rot="0">
              <a:off x="0" y="0"/>
              <a:ext cx="8009835" cy="9755605"/>
            </a:xfrm>
            <a:custGeom>
              <a:avLst/>
              <a:gdLst/>
              <a:ahLst/>
              <a:cxnLst/>
              <a:rect r="r" b="b" t="t" l="l"/>
              <a:pathLst>
                <a:path h="9755605" w="8009835">
                  <a:moveTo>
                    <a:pt x="0" y="0"/>
                  </a:moveTo>
                  <a:lnTo>
                    <a:pt x="0" y="9755605"/>
                  </a:lnTo>
                  <a:lnTo>
                    <a:pt x="8009835" y="9755605"/>
                  </a:lnTo>
                  <a:lnTo>
                    <a:pt x="8009835" y="0"/>
                  </a:lnTo>
                  <a:lnTo>
                    <a:pt x="0" y="0"/>
                  </a:lnTo>
                  <a:close/>
                  <a:moveTo>
                    <a:pt x="7948875" y="9694645"/>
                  </a:moveTo>
                  <a:lnTo>
                    <a:pt x="59690" y="9694645"/>
                  </a:lnTo>
                  <a:lnTo>
                    <a:pt x="59690" y="59690"/>
                  </a:lnTo>
                  <a:lnTo>
                    <a:pt x="7948875" y="59690"/>
                  </a:lnTo>
                  <a:lnTo>
                    <a:pt x="7948875" y="9694645"/>
                  </a:lnTo>
                  <a:close/>
                </a:path>
              </a:pathLst>
            </a:custGeom>
            <a:solidFill>
              <a:srgbClr val="00B2BD"/>
            </a:solidFill>
          </p:spPr>
        </p:sp>
      </p:grpSp>
      <p:sp>
        <p:nvSpPr>
          <p:cNvPr name="TextBox 19" id="19"/>
          <p:cNvSpPr txBox="true"/>
          <p:nvPr/>
        </p:nvSpPr>
        <p:spPr>
          <a:xfrm rot="0">
            <a:off x="12419529" y="2283595"/>
            <a:ext cx="4642393" cy="5038344"/>
          </a:xfrm>
          <a:prstGeom prst="rect">
            <a:avLst/>
          </a:prstGeom>
        </p:spPr>
        <p:txBody>
          <a:bodyPr anchor="t" rtlCol="false" tIns="0" lIns="0" bIns="0" rIns="0">
            <a:spAutoFit/>
          </a:bodyPr>
          <a:lstStyle/>
          <a:p>
            <a:pPr algn="l">
              <a:lnSpc>
                <a:spcPts val="4487"/>
              </a:lnSpc>
            </a:pPr>
            <a:r>
              <a:rPr lang="en-US" sz="3299" spc="-89" b="true">
                <a:solidFill>
                  <a:srgbClr val="007076"/>
                </a:solidFill>
                <a:latin typeface="Montserrat Bold"/>
                <a:ea typeface="Montserrat Bold"/>
                <a:cs typeface="Montserrat Bold"/>
                <a:sym typeface="Montserrat Bold"/>
              </a:rPr>
              <a:t>“an enduring changein behavior, or in the capacity to behave in a given fashion, which results from practice or other forms of  experience” </a:t>
            </a:r>
          </a:p>
          <a:p>
            <a:pPr algn="l">
              <a:lnSpc>
                <a:spcPts val="4487"/>
              </a:lnSpc>
            </a:pPr>
          </a:p>
          <a:p>
            <a:pPr algn="l">
              <a:lnSpc>
                <a:spcPts val="4487"/>
              </a:lnSpc>
            </a:pPr>
            <a:r>
              <a:rPr lang="en-US" sz="3299" spc="-89" b="true">
                <a:solidFill>
                  <a:srgbClr val="007076"/>
                </a:solidFill>
                <a:latin typeface="Montserrat Bold"/>
                <a:ea typeface="Montserrat Bold"/>
                <a:cs typeface="Montserrat Bold"/>
                <a:sym typeface="Montserrat Bold"/>
              </a:rPr>
              <a:t>-(Shuell, 1986, p. 412).</a:t>
            </a:r>
          </a:p>
        </p:txBody>
      </p:sp>
      <p:sp>
        <p:nvSpPr>
          <p:cNvPr name="TextBox 20" id="20"/>
          <p:cNvSpPr txBox="true"/>
          <p:nvPr/>
        </p:nvSpPr>
        <p:spPr>
          <a:xfrm rot="0">
            <a:off x="6822803" y="2283595"/>
            <a:ext cx="4834725" cy="5778774"/>
          </a:xfrm>
          <a:prstGeom prst="rect">
            <a:avLst/>
          </a:prstGeom>
        </p:spPr>
        <p:txBody>
          <a:bodyPr anchor="t" rtlCol="false" tIns="0" lIns="0" bIns="0" rIns="0">
            <a:spAutoFit/>
          </a:bodyPr>
          <a:lstStyle/>
          <a:p>
            <a:pPr algn="l">
              <a:lnSpc>
                <a:spcPts val="4505"/>
              </a:lnSpc>
            </a:pPr>
            <a:r>
              <a:rPr lang="en-US" sz="3387" spc="-91" b="true">
                <a:solidFill>
                  <a:srgbClr val="FFFFFF"/>
                </a:solidFill>
                <a:latin typeface="Montserrat Bold"/>
                <a:ea typeface="Montserrat Bold"/>
                <a:cs typeface="Montserrat Bold"/>
                <a:sym typeface="Montserrat Bold"/>
              </a:rPr>
              <a:t>“the relatively permanent change in a person’s knowledge or behavior due to  experience” </a:t>
            </a:r>
          </a:p>
          <a:p>
            <a:pPr algn="l">
              <a:lnSpc>
                <a:spcPts val="4505"/>
              </a:lnSpc>
            </a:pPr>
          </a:p>
          <a:p>
            <a:pPr algn="l">
              <a:lnSpc>
                <a:spcPts val="4505"/>
              </a:lnSpc>
            </a:pPr>
          </a:p>
          <a:p>
            <a:pPr algn="l">
              <a:lnSpc>
                <a:spcPts val="4505"/>
              </a:lnSpc>
            </a:pPr>
          </a:p>
          <a:p>
            <a:pPr algn="l">
              <a:lnSpc>
                <a:spcPts val="4505"/>
              </a:lnSpc>
            </a:pPr>
            <a:r>
              <a:rPr lang="en-US" sz="3387" spc="-91" b="true">
                <a:solidFill>
                  <a:srgbClr val="FFFFFF"/>
                </a:solidFill>
                <a:latin typeface="Montserrat Bold"/>
                <a:ea typeface="Montserrat Bold"/>
                <a:cs typeface="Montserrat Bold"/>
                <a:sym typeface="Montserrat Bold"/>
              </a:rPr>
              <a:t>-(Mayer, 1982, p. 1040).</a:t>
            </a:r>
          </a:p>
          <a:p>
            <a:pPr algn="l">
              <a:lnSpc>
                <a:spcPts val="517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49572" y="502118"/>
            <a:ext cx="6129724" cy="6122721"/>
            <a:chOff x="0" y="0"/>
            <a:chExt cx="8172966" cy="8163628"/>
          </a:xfrm>
        </p:grpSpPr>
        <p:pic>
          <p:nvPicPr>
            <p:cNvPr name="Picture 7" id="7"/>
            <p:cNvPicPr>
              <a:picLocks noChangeAspect="true"/>
            </p:cNvPicPr>
            <p:nvPr/>
          </p:nvPicPr>
          <p:blipFill>
            <a:blip r:embed="rId3"/>
            <a:srcRect l="16628" t="0" r="16628" b="0"/>
            <a:stretch>
              <a:fillRect/>
            </a:stretch>
          </p:blipFill>
          <p:spPr>
            <a:xfrm flipH="false" flipV="false">
              <a:off x="0" y="0"/>
              <a:ext cx="8172966" cy="8163628"/>
            </a:xfrm>
            <a:prstGeom prst="rect">
              <a:avLst/>
            </a:prstGeom>
          </p:spPr>
        </p:pic>
      </p:grpSp>
      <p:grpSp>
        <p:nvGrpSpPr>
          <p:cNvPr name="Group 8" id="8"/>
          <p:cNvGrpSpPr/>
          <p:nvPr/>
        </p:nvGrpSpPr>
        <p:grpSpPr>
          <a:xfrm rot="-2700000">
            <a:off x="6431123" y="2999575"/>
            <a:ext cx="16683427" cy="7187469"/>
            <a:chOff x="0" y="0"/>
            <a:chExt cx="4393989" cy="1892996"/>
          </a:xfrm>
        </p:grpSpPr>
        <p:sp>
          <p:nvSpPr>
            <p:cNvPr name="Freeform 9" id="9"/>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0" id="10"/>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7284328" y="502118"/>
            <a:ext cx="9127991" cy="6122721"/>
            <a:chOff x="0" y="0"/>
            <a:chExt cx="14544035" cy="9755605"/>
          </a:xfrm>
        </p:grpSpPr>
        <p:sp>
          <p:nvSpPr>
            <p:cNvPr name="Freeform 15" id="15"/>
            <p:cNvSpPr/>
            <p:nvPr/>
          </p:nvSpPr>
          <p:spPr>
            <a:xfrm flipH="false" flipV="false" rot="0">
              <a:off x="0" y="0"/>
              <a:ext cx="14544035" cy="9755605"/>
            </a:xfrm>
            <a:custGeom>
              <a:avLst/>
              <a:gdLst/>
              <a:ahLst/>
              <a:cxnLst/>
              <a:rect r="r" b="b" t="t" l="l"/>
              <a:pathLst>
                <a:path h="9755605" w="1454403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solidFill>
              <a:srgbClr val="00B2BD"/>
            </a:solidFill>
          </p:spPr>
        </p:sp>
      </p:grpSp>
      <p:sp>
        <p:nvSpPr>
          <p:cNvPr name="TextBox 16" id="16"/>
          <p:cNvSpPr txBox="true"/>
          <p:nvPr/>
        </p:nvSpPr>
        <p:spPr>
          <a:xfrm rot="0">
            <a:off x="7651304" y="1042737"/>
            <a:ext cx="9402219" cy="2044700"/>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Why is learning important?</a:t>
            </a:r>
          </a:p>
        </p:txBody>
      </p:sp>
      <p:sp>
        <p:nvSpPr>
          <p:cNvPr name="TextBox 17" id="17"/>
          <p:cNvSpPr txBox="true"/>
          <p:nvPr/>
        </p:nvSpPr>
        <p:spPr>
          <a:xfrm rot="0">
            <a:off x="7651304" y="3342075"/>
            <a:ext cx="8391115" cy="3078099"/>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Learning is essential to our existence. Just like food nourishes our bodies, information and continued learning nourishes our minds. Lifelong learning is an indispensable tool for every career and organisation.</a:t>
            </a:r>
          </a:p>
          <a:p>
            <a:pPr algn="just">
              <a:lnSpc>
                <a:spcPts val="3497"/>
              </a:lnSpc>
            </a:pPr>
          </a:p>
        </p:txBody>
      </p:sp>
      <p:sp>
        <p:nvSpPr>
          <p:cNvPr name="TextBox 18" id="18"/>
          <p:cNvSpPr txBox="true"/>
          <p:nvPr/>
        </p:nvSpPr>
        <p:spPr>
          <a:xfrm rot="0">
            <a:off x="2546171" y="7275384"/>
            <a:ext cx="13496248" cy="1101598"/>
          </a:xfrm>
          <a:prstGeom prst="rect">
            <a:avLst/>
          </a:prstGeom>
        </p:spPr>
        <p:txBody>
          <a:bodyPr anchor="t" rtlCol="false" tIns="0" lIns="0" bIns="0" rIns="0">
            <a:spAutoFit/>
          </a:bodyPr>
          <a:lstStyle/>
          <a:p>
            <a:pPr algn="just">
              <a:lnSpc>
                <a:spcPts val="4345"/>
              </a:lnSpc>
            </a:pPr>
            <a:r>
              <a:rPr lang="en-US" sz="4099" i="true" spc="-110">
                <a:solidFill>
                  <a:srgbClr val="FEFFFF"/>
                </a:solidFill>
                <a:latin typeface="Montserrat Italics"/>
                <a:ea typeface="Montserrat Italics"/>
                <a:cs typeface="Montserrat Italics"/>
                <a:sym typeface="Montserrat Italics"/>
              </a:rPr>
              <a:t>“The</a:t>
            </a:r>
            <a:r>
              <a:rPr lang="en-US" sz="4099" i="true" spc="-110">
                <a:solidFill>
                  <a:srgbClr val="007076"/>
                </a:solidFill>
                <a:latin typeface="Montserrat Italics"/>
                <a:ea typeface="Montserrat Italics"/>
                <a:cs typeface="Montserrat Italics"/>
                <a:sym typeface="Montserrat Italics"/>
              </a:rPr>
              <a:t> </a:t>
            </a:r>
            <a:r>
              <a:rPr lang="en-US" sz="4099" i="true" spc="-110">
                <a:solidFill>
                  <a:srgbClr val="FFFFFF"/>
                </a:solidFill>
                <a:latin typeface="Montserrat Italics"/>
                <a:ea typeface="Montserrat Italics"/>
                <a:cs typeface="Montserrat Italics"/>
                <a:sym typeface="Montserrat Italics"/>
              </a:rPr>
              <a:t>only </a:t>
            </a:r>
            <a:r>
              <a:rPr lang="en-US" sz="4099" i="true" spc="-110">
                <a:solidFill>
                  <a:srgbClr val="007076"/>
                </a:solidFill>
                <a:latin typeface="Montserrat Italics"/>
                <a:ea typeface="Montserrat Italics"/>
                <a:cs typeface="Montserrat Italics"/>
                <a:sym typeface="Montserrat Italics"/>
              </a:rPr>
              <a:t>thing that is constant is change”, Heraclitus.</a:t>
            </a:r>
          </a:p>
          <a:p>
            <a:pPr algn="just">
              <a:lnSpc>
                <a:spcPts val="434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18288000" cy="5471160"/>
            <a:chOff x="0" y="0"/>
            <a:chExt cx="24384000" cy="7294880"/>
          </a:xfrm>
        </p:grpSpPr>
        <p:pic>
          <p:nvPicPr>
            <p:cNvPr name="Picture 4" id="4"/>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5" id="5"/>
          <p:cNvGrpSpPr/>
          <p:nvPr/>
        </p:nvGrpSpPr>
        <p:grpSpPr>
          <a:xfrm rot="0">
            <a:off x="351572" y="298807"/>
            <a:ext cx="17584855" cy="9689385"/>
            <a:chOff x="0" y="0"/>
            <a:chExt cx="4631402" cy="2551937"/>
          </a:xfrm>
        </p:grpSpPr>
        <p:sp>
          <p:nvSpPr>
            <p:cNvPr name="Freeform 6" id="6"/>
            <p:cNvSpPr/>
            <p:nvPr/>
          </p:nvSpPr>
          <p:spPr>
            <a:xfrm flipH="false" flipV="false" rot="0">
              <a:off x="0" y="0"/>
              <a:ext cx="4631402" cy="2551937"/>
            </a:xfrm>
            <a:custGeom>
              <a:avLst/>
              <a:gdLst/>
              <a:ahLst/>
              <a:cxnLst/>
              <a:rect r="r" b="b" t="t" l="l"/>
              <a:pathLst>
                <a:path h="2551937" w="4631402">
                  <a:moveTo>
                    <a:pt x="0" y="0"/>
                  </a:moveTo>
                  <a:lnTo>
                    <a:pt x="4631402" y="0"/>
                  </a:lnTo>
                  <a:lnTo>
                    <a:pt x="4631402" y="2551937"/>
                  </a:lnTo>
                  <a:lnTo>
                    <a:pt x="0" y="2551937"/>
                  </a:lnTo>
                  <a:close/>
                </a:path>
              </a:pathLst>
            </a:custGeom>
            <a:solidFill>
              <a:srgbClr val="00949D"/>
            </a:solidFill>
          </p:spPr>
        </p:sp>
        <p:sp>
          <p:nvSpPr>
            <p:cNvPr name="TextBox 7" id="7"/>
            <p:cNvSpPr txBox="true"/>
            <p:nvPr/>
          </p:nvSpPr>
          <p:spPr>
            <a:xfrm>
              <a:off x="0" y="-38100"/>
              <a:ext cx="4631402" cy="259003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688702" y="534988"/>
            <a:ext cx="8115300" cy="1025525"/>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Benefits of Learning</a:t>
            </a:r>
          </a:p>
        </p:txBody>
      </p:sp>
      <p:sp>
        <p:nvSpPr>
          <p:cNvPr name="TextBox 9" id="9"/>
          <p:cNvSpPr txBox="true"/>
          <p:nvPr/>
        </p:nvSpPr>
        <p:spPr>
          <a:xfrm rot="0">
            <a:off x="688702" y="1889271"/>
            <a:ext cx="16570598" cy="789774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1. Remain relevant</a:t>
            </a:r>
          </a:p>
          <a:p>
            <a:pPr algn="just">
              <a:lnSpc>
                <a:spcPts val="3497"/>
              </a:lnSpc>
            </a:pPr>
            <a:r>
              <a:rPr lang="en-US" sz="3299" spc="-89">
                <a:solidFill>
                  <a:srgbClr val="FFFFFF"/>
                </a:solidFill>
                <a:latin typeface="Montserrat"/>
                <a:ea typeface="Montserrat"/>
                <a:cs typeface="Montserrat"/>
                <a:sym typeface="Montserrat"/>
              </a:rPr>
              <a:t>Don’t be left behind. Ensure you remain relevant to your industry by keeping up to date with trends and adapting your skill set. To function effectively amongst this rapidly changing world of technology, you need to learn new things to remain valuable.</a:t>
            </a:r>
          </a:p>
          <a:p>
            <a:pPr algn="just">
              <a:lnSpc>
                <a:spcPts val="3497"/>
              </a:lnSpc>
            </a:pPr>
          </a:p>
          <a:p>
            <a:pPr algn="just">
              <a:lnSpc>
                <a:spcPts val="3497"/>
              </a:lnSpc>
            </a:pPr>
            <a:r>
              <a:rPr lang="en-US" sz="3299" spc="-89">
                <a:solidFill>
                  <a:srgbClr val="FFFFFF"/>
                </a:solidFill>
                <a:latin typeface="Montserrat"/>
                <a:ea typeface="Montserrat"/>
                <a:cs typeface="Montserrat"/>
                <a:sym typeface="Montserrat"/>
              </a:rPr>
              <a:t>2. Prepare for the unexpected</a:t>
            </a:r>
          </a:p>
          <a:p>
            <a:pPr algn="just">
              <a:lnSpc>
                <a:spcPts val="3497"/>
              </a:lnSpc>
            </a:pPr>
            <a:r>
              <a:rPr lang="en-US" sz="3299" spc="-89">
                <a:solidFill>
                  <a:srgbClr val="FFFFFF"/>
                </a:solidFill>
                <a:latin typeface="Montserrat"/>
                <a:ea typeface="Montserrat"/>
                <a:cs typeface="Montserrat"/>
                <a:sym typeface="Montserrat"/>
              </a:rPr>
              <a:t>Lifelong learning will help you adapt to unexpected changes, for example, losing your job and having to depend on new skills to find work. By continuing to learn, you’ll more easily step out of your comfort zone and take on new job opportunities.</a:t>
            </a:r>
          </a:p>
          <a:p>
            <a:pPr algn="just">
              <a:lnSpc>
                <a:spcPts val="3497"/>
              </a:lnSpc>
            </a:pPr>
          </a:p>
          <a:p>
            <a:pPr algn="just">
              <a:lnSpc>
                <a:spcPts val="3497"/>
              </a:lnSpc>
            </a:pPr>
            <a:r>
              <a:rPr lang="en-US" sz="3299" spc="-89">
                <a:solidFill>
                  <a:srgbClr val="FFFFFF"/>
                </a:solidFill>
                <a:latin typeface="Montserrat"/>
                <a:ea typeface="Montserrat"/>
                <a:cs typeface="Montserrat"/>
                <a:sym typeface="Montserrat"/>
              </a:rPr>
              <a:t>3. Boost you profile </a:t>
            </a:r>
          </a:p>
          <a:p>
            <a:pPr algn="just">
              <a:lnSpc>
                <a:spcPts val="3497"/>
              </a:lnSpc>
            </a:pPr>
            <a:r>
              <a:rPr lang="en-US" sz="3299" spc="-89">
                <a:solidFill>
                  <a:srgbClr val="FFFFFF"/>
                </a:solidFill>
                <a:latin typeface="Montserrat"/>
                <a:ea typeface="Montserrat"/>
                <a:cs typeface="Montserrat"/>
                <a:sym typeface="Montserrat"/>
              </a:rPr>
              <a:t>When you’re always learning, you’ll keep improving and grow in your career and start to receive recommendations from colleagues and managers. The chances are that you’ll switch jobs multiple times throughout your life and you need to learn new skills to adapt accordingly.</a:t>
            </a:r>
          </a:p>
          <a:p>
            <a:pPr algn="just">
              <a:lnSpc>
                <a:spcPts val="3497"/>
              </a:lnSpc>
            </a:pPr>
          </a:p>
          <a:p>
            <a:pPr algn="just">
              <a:lnSpc>
                <a:spcPts val="3497"/>
              </a:lnSpc>
            </a:pPr>
          </a:p>
        </p:txBody>
      </p:sp>
      <p:sp>
        <p:nvSpPr>
          <p:cNvPr name="Freeform 10" id="10"/>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2700000">
            <a:off x="7278105" y="4560546"/>
            <a:ext cx="16683427" cy="7187469"/>
            <a:chOff x="0" y="0"/>
            <a:chExt cx="4393989" cy="1892996"/>
          </a:xfrm>
        </p:grpSpPr>
        <p:sp>
          <p:nvSpPr>
            <p:cNvPr name="Freeform 14" id="1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5" id="1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18288000" cy="5471160"/>
            <a:chOff x="0" y="0"/>
            <a:chExt cx="24384000" cy="7294880"/>
          </a:xfrm>
        </p:grpSpPr>
        <p:pic>
          <p:nvPicPr>
            <p:cNvPr name="Picture 4" id="4"/>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5" id="5"/>
          <p:cNvGrpSpPr/>
          <p:nvPr/>
        </p:nvGrpSpPr>
        <p:grpSpPr>
          <a:xfrm rot="0">
            <a:off x="351572" y="298807"/>
            <a:ext cx="17584855" cy="9689385"/>
            <a:chOff x="0" y="0"/>
            <a:chExt cx="4631402" cy="2551937"/>
          </a:xfrm>
        </p:grpSpPr>
        <p:sp>
          <p:nvSpPr>
            <p:cNvPr name="Freeform 6" id="6"/>
            <p:cNvSpPr/>
            <p:nvPr/>
          </p:nvSpPr>
          <p:spPr>
            <a:xfrm flipH="false" flipV="false" rot="0">
              <a:off x="0" y="0"/>
              <a:ext cx="4631402" cy="2551937"/>
            </a:xfrm>
            <a:custGeom>
              <a:avLst/>
              <a:gdLst/>
              <a:ahLst/>
              <a:cxnLst/>
              <a:rect r="r" b="b" t="t" l="l"/>
              <a:pathLst>
                <a:path h="2551937" w="4631402">
                  <a:moveTo>
                    <a:pt x="0" y="0"/>
                  </a:moveTo>
                  <a:lnTo>
                    <a:pt x="4631402" y="0"/>
                  </a:lnTo>
                  <a:lnTo>
                    <a:pt x="4631402" y="2551937"/>
                  </a:lnTo>
                  <a:lnTo>
                    <a:pt x="0" y="2551937"/>
                  </a:lnTo>
                  <a:close/>
                </a:path>
              </a:pathLst>
            </a:custGeom>
            <a:solidFill>
              <a:srgbClr val="00949D"/>
            </a:solidFill>
          </p:spPr>
        </p:sp>
        <p:sp>
          <p:nvSpPr>
            <p:cNvPr name="TextBox 7" id="7"/>
            <p:cNvSpPr txBox="true"/>
            <p:nvPr/>
          </p:nvSpPr>
          <p:spPr>
            <a:xfrm>
              <a:off x="0" y="-38100"/>
              <a:ext cx="4631402" cy="259003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688702" y="534988"/>
            <a:ext cx="8115300" cy="1025525"/>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Benefits of Learning</a:t>
            </a:r>
          </a:p>
        </p:txBody>
      </p:sp>
      <p:sp>
        <p:nvSpPr>
          <p:cNvPr name="TextBox 9" id="9"/>
          <p:cNvSpPr txBox="true"/>
          <p:nvPr/>
        </p:nvSpPr>
        <p:spPr>
          <a:xfrm rot="0">
            <a:off x="688702" y="1889271"/>
            <a:ext cx="16570598" cy="833589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4. Competence leads to confidence</a:t>
            </a:r>
          </a:p>
          <a:p>
            <a:pPr algn="just">
              <a:lnSpc>
                <a:spcPts val="3497"/>
              </a:lnSpc>
            </a:pPr>
            <a:r>
              <a:rPr lang="en-US" sz="3299" spc="-89">
                <a:solidFill>
                  <a:srgbClr val="FFFFFF"/>
                </a:solidFill>
                <a:latin typeface="Montserrat"/>
                <a:ea typeface="Montserrat"/>
                <a:cs typeface="Montserrat"/>
                <a:sym typeface="Montserrat"/>
              </a:rPr>
              <a:t>Learning new things gives us a feeling of accomplishment, which in turn boosts our confidence in our own capabilities. Also, you’ll feel more ready to take on challenges and explore new business ventures.</a:t>
            </a:r>
          </a:p>
          <a:p>
            <a:pPr algn="just">
              <a:lnSpc>
                <a:spcPts val="3497"/>
              </a:lnSpc>
            </a:pPr>
          </a:p>
          <a:p>
            <a:pPr algn="just">
              <a:lnSpc>
                <a:spcPts val="3497"/>
              </a:lnSpc>
            </a:pPr>
            <a:r>
              <a:rPr lang="en-US" sz="3299" spc="-89">
                <a:solidFill>
                  <a:srgbClr val="FFFFFF"/>
                </a:solidFill>
                <a:latin typeface="Montserrat"/>
                <a:ea typeface="Montserrat"/>
                <a:cs typeface="Montserrat"/>
                <a:sym typeface="Montserrat"/>
              </a:rPr>
              <a:t>5. Sparks new ideas</a:t>
            </a:r>
          </a:p>
          <a:p>
            <a:pPr algn="just">
              <a:lnSpc>
                <a:spcPts val="3497"/>
              </a:lnSpc>
            </a:pPr>
            <a:r>
              <a:rPr lang="en-US" sz="3299" spc="-89">
                <a:solidFill>
                  <a:srgbClr val="FFFFFF"/>
                </a:solidFill>
                <a:latin typeface="Montserrat"/>
                <a:ea typeface="Montserrat"/>
                <a:cs typeface="Montserrat"/>
                <a:sym typeface="Montserrat"/>
              </a:rPr>
              <a:t>Acquiring new skills will unveil new opportunities and help you find innovative solutions to problems. This could earn you more money.</a:t>
            </a:r>
          </a:p>
          <a:p>
            <a:pPr algn="just">
              <a:lnSpc>
                <a:spcPts val="3497"/>
              </a:lnSpc>
            </a:pPr>
          </a:p>
          <a:p>
            <a:pPr algn="just">
              <a:lnSpc>
                <a:spcPts val="3497"/>
              </a:lnSpc>
            </a:pPr>
            <a:r>
              <a:rPr lang="en-US" sz="3299" spc="-89">
                <a:solidFill>
                  <a:srgbClr val="FFFFFF"/>
                </a:solidFill>
                <a:latin typeface="Montserrat"/>
                <a:ea typeface="Montserrat"/>
                <a:cs typeface="Montserrat"/>
                <a:sym typeface="Montserrat"/>
              </a:rPr>
              <a:t>6. Change your perspective</a:t>
            </a:r>
          </a:p>
          <a:p>
            <a:pPr algn="just">
              <a:lnSpc>
                <a:spcPts val="3497"/>
              </a:lnSpc>
            </a:pPr>
            <a:r>
              <a:rPr lang="en-US" sz="3299" spc="-89">
                <a:solidFill>
                  <a:srgbClr val="FFFFFF"/>
                </a:solidFill>
                <a:latin typeface="Montserrat"/>
                <a:ea typeface="Montserrat"/>
                <a:cs typeface="Montserrat"/>
                <a:sym typeface="Montserrat"/>
              </a:rPr>
              <a:t>Continuous learning opens your mind and changes your attitude by building on what you already know. The more you learn, the better you’ll get at seeing more sides of the same situation, helping you understand more deeply.</a:t>
            </a:r>
          </a:p>
          <a:p>
            <a:pPr algn="just">
              <a:lnSpc>
                <a:spcPts val="3497"/>
              </a:lnSpc>
            </a:pPr>
          </a:p>
          <a:p>
            <a:pPr algn="just">
              <a:lnSpc>
                <a:spcPts val="3497"/>
              </a:lnSpc>
            </a:pPr>
            <a:r>
              <a:rPr lang="en-US" sz="3299" spc="-89">
                <a:solidFill>
                  <a:srgbClr val="FFFFFF"/>
                </a:solidFill>
                <a:latin typeface="Montserrat"/>
                <a:ea typeface="Montserrat"/>
                <a:cs typeface="Montserrat"/>
                <a:sym typeface="Montserrat"/>
              </a:rPr>
              <a:t>7. Pay it forward</a:t>
            </a:r>
          </a:p>
          <a:p>
            <a:pPr algn="just">
              <a:lnSpc>
                <a:spcPts val="3497"/>
              </a:lnSpc>
            </a:pPr>
            <a:r>
              <a:rPr lang="en-US" sz="3299" spc="-89">
                <a:solidFill>
                  <a:srgbClr val="FFFFFF"/>
                </a:solidFill>
                <a:latin typeface="Montserrat"/>
                <a:ea typeface="Montserrat"/>
                <a:cs typeface="Montserrat"/>
                <a:sym typeface="Montserrat"/>
              </a:rPr>
              <a:t>Continuous learning isn’t just about you. Lifelong learning helps develop your leadership skills which then translates into fostering lifelong learning in other individuals, by encouraging them to pursue further education.</a:t>
            </a:r>
          </a:p>
          <a:p>
            <a:pPr algn="just">
              <a:lnSpc>
                <a:spcPts val="349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81963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17247" y="2082139"/>
            <a:ext cx="7488158" cy="6122721"/>
            <a:chOff x="0" y="0"/>
            <a:chExt cx="9984211" cy="8163628"/>
          </a:xfrm>
        </p:grpSpPr>
        <p:pic>
          <p:nvPicPr>
            <p:cNvPr name="Picture 7" id="7"/>
            <p:cNvPicPr>
              <a:picLocks noChangeAspect="true"/>
            </p:cNvPicPr>
            <p:nvPr/>
          </p:nvPicPr>
          <p:blipFill>
            <a:blip r:embed="rId3"/>
            <a:srcRect l="13457" t="0" r="5008" b="0"/>
            <a:stretch>
              <a:fillRect/>
            </a:stretch>
          </p:blipFill>
          <p:spPr>
            <a:xfrm flipH="false" flipV="false">
              <a:off x="0" y="0"/>
              <a:ext cx="9984211" cy="8163628"/>
            </a:xfrm>
            <a:prstGeom prst="rect">
              <a:avLst/>
            </a:prstGeom>
          </p:spPr>
        </p:pic>
      </p:grpSp>
      <p:sp>
        <p:nvSpPr>
          <p:cNvPr name="Freeform 8" id="8"/>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2700000">
            <a:off x="7278105" y="4560546"/>
            <a:ext cx="16683427" cy="7187469"/>
            <a:chOff x="0" y="0"/>
            <a:chExt cx="4393989" cy="1892996"/>
          </a:xfrm>
        </p:grpSpPr>
        <p:sp>
          <p:nvSpPr>
            <p:cNvPr name="Freeform 10" id="10"/>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1" id="11"/>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8131309" y="2082139"/>
            <a:ext cx="9127991" cy="6122721"/>
            <a:chOff x="0" y="0"/>
            <a:chExt cx="14544035" cy="9755605"/>
          </a:xfrm>
        </p:grpSpPr>
        <p:sp>
          <p:nvSpPr>
            <p:cNvPr name="Freeform 16" id="16"/>
            <p:cNvSpPr/>
            <p:nvPr/>
          </p:nvSpPr>
          <p:spPr>
            <a:xfrm flipH="false" flipV="false" rot="0">
              <a:off x="0" y="0"/>
              <a:ext cx="14544035" cy="9755605"/>
            </a:xfrm>
            <a:custGeom>
              <a:avLst/>
              <a:gdLst/>
              <a:ahLst/>
              <a:cxnLst/>
              <a:rect r="r" b="b" t="t" l="l"/>
              <a:pathLst>
                <a:path h="9755605" w="1454403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solidFill>
              <a:srgbClr val="00B2BD"/>
            </a:solidFill>
          </p:spPr>
        </p:sp>
      </p:grpSp>
      <p:sp>
        <p:nvSpPr>
          <p:cNvPr name="TextBox 17" id="17"/>
          <p:cNvSpPr txBox="true"/>
          <p:nvPr/>
        </p:nvSpPr>
        <p:spPr>
          <a:xfrm rot="0">
            <a:off x="8498285" y="2398991"/>
            <a:ext cx="8762477" cy="2044700"/>
          </a:xfrm>
          <a:prstGeom prst="rect">
            <a:avLst/>
          </a:prstGeom>
        </p:spPr>
        <p:txBody>
          <a:bodyPr anchor="t" rtlCol="false" tIns="0" lIns="0" bIns="0" rIns="0">
            <a:spAutoFit/>
          </a:bodyPr>
          <a:lstStyle/>
          <a:p>
            <a:pPr algn="l">
              <a:lnSpc>
                <a:spcPts val="8049"/>
              </a:lnSpc>
            </a:pPr>
            <a:r>
              <a:rPr lang="en-US" sz="6999" spc="307">
                <a:solidFill>
                  <a:srgbClr val="007076"/>
                </a:solidFill>
                <a:latin typeface="Anton"/>
                <a:ea typeface="Anton"/>
                <a:cs typeface="Anton"/>
                <a:sym typeface="Anton"/>
              </a:rPr>
              <a:t>6 MAIN THEORIES:</a:t>
            </a:r>
          </a:p>
          <a:p>
            <a:pPr algn="l">
              <a:lnSpc>
                <a:spcPts val="8049"/>
              </a:lnSpc>
            </a:pPr>
          </a:p>
        </p:txBody>
      </p:sp>
      <p:sp>
        <p:nvSpPr>
          <p:cNvPr name="TextBox 18" id="18"/>
          <p:cNvSpPr txBox="true"/>
          <p:nvPr/>
        </p:nvSpPr>
        <p:spPr>
          <a:xfrm rot="0">
            <a:off x="8131309" y="3647912"/>
            <a:ext cx="8391115" cy="4083114"/>
          </a:xfrm>
          <a:prstGeom prst="rect">
            <a:avLst/>
          </a:prstGeom>
        </p:spPr>
        <p:txBody>
          <a:bodyPr anchor="t" rtlCol="false" tIns="0" lIns="0" bIns="0" rIns="0">
            <a:spAutoFit/>
          </a:bodyPr>
          <a:lstStyle/>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Behaviorism</a:t>
            </a:r>
          </a:p>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Cognitivism</a:t>
            </a:r>
          </a:p>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Social Learning Theory</a:t>
            </a:r>
          </a:p>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Social Constructivism</a:t>
            </a:r>
          </a:p>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Multiple Intelligences</a:t>
            </a:r>
          </a:p>
          <a:p>
            <a:pPr algn="just" marL="712468" indent="-356234" lvl="1">
              <a:lnSpc>
                <a:spcPts val="4850"/>
              </a:lnSpc>
              <a:buFont typeface="Arial"/>
              <a:buChar char="•"/>
            </a:pPr>
            <a:r>
              <a:rPr lang="en-US" b="true" sz="3299" spc="224">
                <a:solidFill>
                  <a:srgbClr val="007076"/>
                </a:solidFill>
                <a:latin typeface="Montserrat Bold"/>
                <a:ea typeface="Montserrat Bold"/>
                <a:cs typeface="Montserrat Bold"/>
                <a:sym typeface="Montserrat Bold"/>
              </a:rPr>
              <a:t>Brain-Based Learning</a:t>
            </a:r>
          </a:p>
          <a:p>
            <a:pPr algn="just">
              <a:lnSpc>
                <a:spcPts val="2968"/>
              </a:lnSpc>
            </a:pPr>
          </a:p>
        </p:txBody>
      </p:sp>
      <p:sp>
        <p:nvSpPr>
          <p:cNvPr name="TextBox 19" id="19"/>
          <p:cNvSpPr txBox="true"/>
          <p:nvPr/>
        </p:nvSpPr>
        <p:spPr>
          <a:xfrm rot="0">
            <a:off x="-108606" y="201169"/>
            <a:ext cx="8797015" cy="1731263"/>
          </a:xfrm>
          <a:prstGeom prst="rect">
            <a:avLst/>
          </a:prstGeom>
        </p:spPr>
        <p:txBody>
          <a:bodyPr anchor="t" rtlCol="false" tIns="0" lIns="0" bIns="0" rIns="0">
            <a:spAutoFit/>
          </a:bodyPr>
          <a:lstStyle/>
          <a:p>
            <a:pPr algn="ctr">
              <a:lnSpc>
                <a:spcPts val="6677"/>
              </a:lnSpc>
            </a:pPr>
            <a:r>
              <a:rPr lang="en-US" sz="6299" spc="170">
                <a:solidFill>
                  <a:srgbClr val="FEFFFF"/>
                </a:solidFill>
                <a:latin typeface="Montserrat Semi-Bold"/>
                <a:ea typeface="Montserrat Semi-Bold"/>
                <a:cs typeface="Montserrat Semi-Bold"/>
                <a:sym typeface="Montserrat Semi-Bold"/>
              </a:rPr>
              <a:t>Learning</a:t>
            </a:r>
            <a:r>
              <a:rPr lang="en-US" sz="6299" spc="170">
                <a:solidFill>
                  <a:srgbClr val="007076"/>
                </a:solidFill>
                <a:latin typeface="Montserrat Semi-Bold"/>
                <a:ea typeface="Montserrat Semi-Bold"/>
                <a:cs typeface="Montserrat Semi-Bold"/>
                <a:sym typeface="Montserrat Semi-Bold"/>
              </a:rPr>
              <a:t> </a:t>
            </a:r>
          </a:p>
          <a:p>
            <a:pPr algn="ctr">
              <a:lnSpc>
                <a:spcPts val="6677"/>
              </a:lnSpc>
            </a:pPr>
            <a:r>
              <a:rPr lang="en-US" sz="6299" spc="170">
                <a:solidFill>
                  <a:srgbClr val="FFFFFF"/>
                </a:solidFill>
                <a:latin typeface="Montserrat Semi-Bold"/>
                <a:ea typeface="Montserrat Semi-Bold"/>
                <a:cs typeface="Montserrat Semi-Bold"/>
                <a:sym typeface="Montserrat Semi-Bold"/>
              </a:rPr>
              <a:t>Theory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72086" y="2302122"/>
            <a:ext cx="7268319" cy="4745316"/>
            <a:chOff x="0" y="0"/>
            <a:chExt cx="9691092" cy="6327088"/>
          </a:xfrm>
        </p:grpSpPr>
        <p:pic>
          <p:nvPicPr>
            <p:cNvPr name="Picture 7" id="7"/>
            <p:cNvPicPr>
              <a:picLocks noChangeAspect="true"/>
            </p:cNvPicPr>
            <p:nvPr/>
          </p:nvPicPr>
          <p:blipFill>
            <a:blip r:embed="rId3"/>
            <a:srcRect l="6921" t="0" r="6921" b="0"/>
            <a:stretch>
              <a:fillRect/>
            </a:stretch>
          </p:blipFill>
          <p:spPr>
            <a:xfrm flipH="false" flipV="false">
              <a:off x="0" y="0"/>
              <a:ext cx="9691092" cy="6327088"/>
            </a:xfrm>
            <a:prstGeom prst="rect">
              <a:avLst/>
            </a:prstGeom>
          </p:spPr>
        </p:pic>
      </p:grpSp>
      <p:grpSp>
        <p:nvGrpSpPr>
          <p:cNvPr name="Group 8" id="8"/>
          <p:cNvGrpSpPr/>
          <p:nvPr/>
        </p:nvGrpSpPr>
        <p:grpSpPr>
          <a:xfrm rot="-2700000">
            <a:off x="7278105" y="4560546"/>
            <a:ext cx="16683427" cy="7187469"/>
            <a:chOff x="0" y="0"/>
            <a:chExt cx="4393989" cy="1892996"/>
          </a:xfrm>
        </p:grpSpPr>
        <p:sp>
          <p:nvSpPr>
            <p:cNvPr name="Freeform 9" id="9"/>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0" id="10"/>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85838" y="4045579"/>
            <a:ext cx="369900" cy="369900"/>
          </a:xfrm>
          <a:custGeom>
            <a:avLst/>
            <a:gdLst/>
            <a:ahLst/>
            <a:cxnLst/>
            <a:rect r="r" b="b" t="t" l="l"/>
            <a:pathLst>
              <a:path h="369900" w="369900">
                <a:moveTo>
                  <a:pt x="0" y="0"/>
                </a:moveTo>
                <a:lnTo>
                  <a:pt x="369899" y="0"/>
                </a:lnTo>
                <a:lnTo>
                  <a:pt x="369899" y="369900"/>
                </a:lnTo>
                <a:lnTo>
                  <a:pt x="0" y="3699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1028700" y="1032510"/>
            <a:ext cx="8391115"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Behaviorism</a:t>
            </a:r>
          </a:p>
        </p:txBody>
      </p:sp>
      <p:sp>
        <p:nvSpPr>
          <p:cNvPr name="TextBox 17" id="17"/>
          <p:cNvSpPr txBox="true"/>
          <p:nvPr/>
        </p:nvSpPr>
        <p:spPr>
          <a:xfrm rot="0">
            <a:off x="1540687" y="4006476"/>
            <a:ext cx="8105881" cy="856107"/>
          </a:xfrm>
          <a:prstGeom prst="rect">
            <a:avLst/>
          </a:prstGeom>
        </p:spPr>
        <p:txBody>
          <a:bodyPr anchor="t" rtlCol="false" tIns="0" lIns="0" bIns="0" rIns="0">
            <a:spAutoFit/>
          </a:bodyPr>
          <a:lstStyle/>
          <a:p>
            <a:pPr algn="just">
              <a:lnSpc>
                <a:spcPts val="3709"/>
              </a:lnSpc>
            </a:pPr>
            <a:r>
              <a:rPr lang="en-US" b="true" sz="3499" spc="-94">
                <a:solidFill>
                  <a:srgbClr val="007076"/>
                </a:solidFill>
                <a:latin typeface="Montserrat Bold"/>
                <a:ea typeface="Montserrat Bold"/>
                <a:cs typeface="Montserrat Bold"/>
                <a:sym typeface="Montserrat Bold"/>
              </a:rPr>
              <a:t>Classical Conditioning - Pavlov</a:t>
            </a:r>
          </a:p>
          <a:p>
            <a:pPr algn="just">
              <a:lnSpc>
                <a:spcPts val="2968"/>
              </a:lnSpc>
            </a:pPr>
          </a:p>
        </p:txBody>
      </p:sp>
      <p:sp>
        <p:nvSpPr>
          <p:cNvPr name="Freeform 18" id="18"/>
          <p:cNvSpPr/>
          <p:nvPr/>
        </p:nvSpPr>
        <p:spPr>
          <a:xfrm flipH="false" flipV="false" rot="0">
            <a:off x="1028700" y="5143500"/>
            <a:ext cx="369900" cy="369900"/>
          </a:xfrm>
          <a:custGeom>
            <a:avLst/>
            <a:gdLst/>
            <a:ahLst/>
            <a:cxnLst/>
            <a:rect r="r" b="b" t="t" l="l"/>
            <a:pathLst>
              <a:path h="369900" w="369900">
                <a:moveTo>
                  <a:pt x="0" y="0"/>
                </a:moveTo>
                <a:lnTo>
                  <a:pt x="369900" y="0"/>
                </a:lnTo>
                <a:lnTo>
                  <a:pt x="369900" y="369900"/>
                </a:lnTo>
                <a:lnTo>
                  <a:pt x="0" y="3699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9" id="19"/>
          <p:cNvSpPr txBox="true"/>
          <p:nvPr/>
        </p:nvSpPr>
        <p:spPr>
          <a:xfrm rot="0">
            <a:off x="1540687" y="5181600"/>
            <a:ext cx="7926753" cy="936752"/>
          </a:xfrm>
          <a:prstGeom prst="rect">
            <a:avLst/>
          </a:prstGeom>
        </p:spPr>
        <p:txBody>
          <a:bodyPr anchor="t" rtlCol="false" tIns="0" lIns="0" bIns="0" rIns="0">
            <a:spAutoFit/>
          </a:bodyPr>
          <a:lstStyle/>
          <a:p>
            <a:pPr algn="just">
              <a:lnSpc>
                <a:spcPts val="3603"/>
              </a:lnSpc>
            </a:pPr>
            <a:r>
              <a:rPr lang="en-US" b="true" sz="3399" spc="-91">
                <a:solidFill>
                  <a:srgbClr val="007076"/>
                </a:solidFill>
                <a:latin typeface="Montserrat Bold"/>
                <a:ea typeface="Montserrat Bold"/>
                <a:cs typeface="Montserrat Bold"/>
                <a:sym typeface="Montserrat Bold"/>
              </a:rPr>
              <a:t>Operant Conditioning - Skinner</a:t>
            </a:r>
          </a:p>
          <a:p>
            <a:pPr algn="just">
              <a:lnSpc>
                <a:spcPts val="3603"/>
              </a:lnSpc>
            </a:pPr>
          </a:p>
        </p:txBody>
      </p:sp>
      <p:sp>
        <p:nvSpPr>
          <p:cNvPr name="TextBox 20" id="20"/>
          <p:cNvSpPr txBox="true"/>
          <p:nvPr/>
        </p:nvSpPr>
        <p:spPr>
          <a:xfrm rot="0">
            <a:off x="1031624" y="2309121"/>
            <a:ext cx="9145212" cy="1430655"/>
          </a:xfrm>
          <a:prstGeom prst="rect">
            <a:avLst/>
          </a:prstGeom>
        </p:spPr>
        <p:txBody>
          <a:bodyPr anchor="t" rtlCol="false" tIns="0" lIns="0" bIns="0" rIns="0">
            <a:spAutoFit/>
          </a:bodyPr>
          <a:lstStyle/>
          <a:p>
            <a:pPr algn="l">
              <a:lnSpc>
                <a:spcPts val="3794"/>
              </a:lnSpc>
            </a:pPr>
            <a:r>
              <a:rPr lang="en-US" sz="3299" spc="128">
                <a:solidFill>
                  <a:srgbClr val="007076"/>
                </a:solidFill>
                <a:latin typeface="Montserrat"/>
                <a:ea typeface="Montserrat"/>
                <a:cs typeface="Montserrat"/>
                <a:sym typeface="Montserrat"/>
              </a:rPr>
              <a:t>Confined to observable and measurable</a:t>
            </a:r>
          </a:p>
          <a:p>
            <a:pPr algn="l">
              <a:lnSpc>
                <a:spcPts val="3794"/>
              </a:lnSpc>
            </a:pPr>
            <a:r>
              <a:rPr lang="en-US" sz="3299" spc="128">
                <a:solidFill>
                  <a:srgbClr val="007076"/>
                </a:solidFill>
                <a:latin typeface="Montserrat"/>
                <a:ea typeface="Montserrat"/>
                <a:cs typeface="Montserrat"/>
                <a:sym typeface="Montserrat"/>
              </a:rPr>
              <a:t>behavior</a:t>
            </a:r>
          </a:p>
          <a:p>
            <a:pPr algn="l">
              <a:lnSpc>
                <a:spcPts val="379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2700000">
            <a:off x="7278105" y="4560546"/>
            <a:ext cx="16683427" cy="7187469"/>
            <a:chOff x="0" y="0"/>
            <a:chExt cx="4393989" cy="1892996"/>
          </a:xfrm>
        </p:grpSpPr>
        <p:sp>
          <p:nvSpPr>
            <p:cNvPr name="Freeform 5" id="5"/>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6" id="6"/>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77856"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28706" y="925830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28700" y="836168"/>
            <a:ext cx="534250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IVAN PAVLOV</a:t>
            </a:r>
          </a:p>
        </p:txBody>
      </p:sp>
      <p:sp>
        <p:nvSpPr>
          <p:cNvPr name="TextBox 11" id="11"/>
          <p:cNvSpPr txBox="true"/>
          <p:nvPr/>
        </p:nvSpPr>
        <p:spPr>
          <a:xfrm rot="0">
            <a:off x="1594081" y="1970252"/>
            <a:ext cx="14967949" cy="7430135"/>
          </a:xfrm>
          <a:prstGeom prst="rect">
            <a:avLst/>
          </a:prstGeom>
        </p:spPr>
        <p:txBody>
          <a:bodyPr anchor="t" rtlCol="false" tIns="0" lIns="0" bIns="0" rIns="0">
            <a:spAutoFit/>
          </a:bodyPr>
          <a:lstStyle/>
          <a:p>
            <a:pPr algn="just">
              <a:lnSpc>
                <a:spcPts val="5091"/>
              </a:lnSpc>
            </a:pPr>
            <a:r>
              <a:rPr lang="en-US" sz="3799" spc="102">
                <a:solidFill>
                  <a:srgbClr val="007076"/>
                </a:solidFill>
                <a:latin typeface="Montserrat"/>
                <a:ea typeface="Montserrat"/>
                <a:cs typeface="Montserrat"/>
                <a:sym typeface="Montserrat"/>
              </a:rPr>
              <a:t>-Ivan Pavlov was a Russian physiologist best known in psychology for his discovery of classical conditioning. During his studies on the digestive systems of dogs, Pavlov noted that the animals salivated naturally upon the presentation of food.</a:t>
            </a:r>
          </a:p>
          <a:p>
            <a:pPr algn="just">
              <a:lnSpc>
                <a:spcPts val="5091"/>
              </a:lnSpc>
            </a:pPr>
          </a:p>
          <a:p>
            <a:pPr algn="just">
              <a:lnSpc>
                <a:spcPts val="5091"/>
              </a:lnSpc>
            </a:pPr>
            <a:r>
              <a:rPr lang="en-US" sz="3799" spc="102">
                <a:solidFill>
                  <a:srgbClr val="007076"/>
                </a:solidFill>
                <a:latin typeface="Montserrat"/>
                <a:ea typeface="Montserrat"/>
                <a:cs typeface="Montserrat"/>
                <a:sym typeface="Montserrat"/>
              </a:rPr>
              <a:t>-</a:t>
            </a:r>
            <a:r>
              <a:rPr lang="en-US" sz="3799" spc="102">
                <a:solidFill>
                  <a:srgbClr val="007076"/>
                </a:solidFill>
                <a:latin typeface="Montserrat"/>
                <a:ea typeface="Montserrat"/>
                <a:cs typeface="Montserrat"/>
                <a:sym typeface="Montserrat"/>
              </a:rPr>
              <a:t>However, he also noted that the animals began to salivate whenever they saw the white lab coat of an experimental assistant. It was through this observation that Pavlov discovered that by associating the presentation of food with the lab assistant, a conditioned response occurred.</a:t>
            </a:r>
          </a:p>
          <a:p>
            <a:pPr algn="just">
              <a:lnSpc>
                <a:spcPts val="296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2700000">
            <a:off x="7278105" y="4560546"/>
            <a:ext cx="16683427" cy="7187469"/>
            <a:chOff x="0" y="0"/>
            <a:chExt cx="4393989" cy="1892996"/>
          </a:xfrm>
        </p:grpSpPr>
        <p:sp>
          <p:nvSpPr>
            <p:cNvPr name="Freeform 5" id="5"/>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6" id="6"/>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77856"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28706" y="925830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28700" y="1066800"/>
            <a:ext cx="9001835"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CLASSICAL CONDITIONING</a:t>
            </a:r>
          </a:p>
        </p:txBody>
      </p:sp>
      <p:sp>
        <p:nvSpPr>
          <p:cNvPr name="TextBox 11" id="11"/>
          <p:cNvSpPr txBox="true"/>
          <p:nvPr/>
        </p:nvSpPr>
        <p:spPr>
          <a:xfrm rot="0">
            <a:off x="2149263" y="2513256"/>
            <a:ext cx="13470555" cy="4239260"/>
          </a:xfrm>
          <a:prstGeom prst="rect">
            <a:avLst/>
          </a:prstGeom>
        </p:spPr>
        <p:txBody>
          <a:bodyPr anchor="t" rtlCol="false" tIns="0" lIns="0" bIns="0" rIns="0">
            <a:spAutoFit/>
          </a:bodyPr>
          <a:lstStyle/>
          <a:p>
            <a:pPr algn="just">
              <a:lnSpc>
                <a:spcPts val="5091"/>
              </a:lnSpc>
            </a:pPr>
            <a:r>
              <a:rPr lang="en-US" sz="3799" spc="102">
                <a:solidFill>
                  <a:srgbClr val="007076"/>
                </a:solidFill>
                <a:latin typeface="Montserrat"/>
                <a:ea typeface="Montserrat"/>
                <a:cs typeface="Montserrat"/>
                <a:sym typeface="Montserrat"/>
              </a:rPr>
              <a:t>-A type of unconscious or automatic learning. This learning process creates a conditioned response through associations between an unconditioned stimulus and a neutral stimulus. </a:t>
            </a:r>
          </a:p>
          <a:p>
            <a:pPr algn="just">
              <a:lnSpc>
                <a:spcPts val="5091"/>
              </a:lnSpc>
            </a:pPr>
          </a:p>
          <a:p>
            <a:pPr algn="just">
              <a:lnSpc>
                <a:spcPts val="5091"/>
              </a:lnSpc>
            </a:pPr>
            <a:r>
              <a:rPr lang="en-US" sz="3799" spc="102">
                <a:solidFill>
                  <a:srgbClr val="007076"/>
                </a:solidFill>
                <a:latin typeface="Montserrat"/>
                <a:ea typeface="Montserrat"/>
                <a:cs typeface="Montserrat"/>
                <a:sym typeface="Montserrat"/>
              </a:rPr>
              <a:t>(Wolpe, J. &amp; Plaud, J., 1997</a:t>
            </a:r>
          </a:p>
          <a:p>
            <a:pPr algn="just">
              <a:lnSpc>
                <a:spcPts val="2968"/>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0"/>
            <a:ext cx="18288000" cy="5471160"/>
            <a:chOff x="0" y="0"/>
            <a:chExt cx="24384000" cy="7294880"/>
          </a:xfrm>
        </p:grpSpPr>
        <p:pic>
          <p:nvPicPr>
            <p:cNvPr name="Picture 7" id="7"/>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8" id="8"/>
          <p:cNvGrpSpPr/>
          <p:nvPr/>
        </p:nvGrpSpPr>
        <p:grpSpPr>
          <a:xfrm rot="0">
            <a:off x="2731348" y="3994905"/>
            <a:ext cx="12629587" cy="4622625"/>
            <a:chOff x="0" y="0"/>
            <a:chExt cx="3326311" cy="1217481"/>
          </a:xfrm>
        </p:grpSpPr>
        <p:sp>
          <p:nvSpPr>
            <p:cNvPr name="Freeform 9" id="9"/>
            <p:cNvSpPr/>
            <p:nvPr/>
          </p:nvSpPr>
          <p:spPr>
            <a:xfrm flipH="false" flipV="false" rot="0">
              <a:off x="0" y="0"/>
              <a:ext cx="3326311" cy="1217481"/>
            </a:xfrm>
            <a:custGeom>
              <a:avLst/>
              <a:gdLst/>
              <a:ahLst/>
              <a:cxnLst/>
              <a:rect r="r" b="b" t="t" l="l"/>
              <a:pathLst>
                <a:path h="1217481" w="3326311">
                  <a:moveTo>
                    <a:pt x="0" y="0"/>
                  </a:moveTo>
                  <a:lnTo>
                    <a:pt x="3326311" y="0"/>
                  </a:lnTo>
                  <a:lnTo>
                    <a:pt x="3326311" y="1217481"/>
                  </a:lnTo>
                  <a:lnTo>
                    <a:pt x="0" y="1217481"/>
                  </a:lnTo>
                  <a:close/>
                </a:path>
              </a:pathLst>
            </a:custGeom>
            <a:solidFill>
              <a:srgbClr val="00949D"/>
            </a:solidFill>
          </p:spPr>
        </p:sp>
        <p:sp>
          <p:nvSpPr>
            <p:cNvPr name="TextBox 10" id="10"/>
            <p:cNvSpPr txBox="true"/>
            <p:nvPr/>
          </p:nvSpPr>
          <p:spPr>
            <a:xfrm>
              <a:off x="0" y="-38100"/>
              <a:ext cx="3326311" cy="125558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367400" y="4445635"/>
            <a:ext cx="10008938" cy="2044700"/>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Unconditioned Stimulus</a:t>
            </a:r>
          </a:p>
          <a:p>
            <a:pPr algn="l">
              <a:lnSpc>
                <a:spcPts val="8049"/>
              </a:lnSpc>
            </a:pPr>
          </a:p>
        </p:txBody>
      </p:sp>
      <p:sp>
        <p:nvSpPr>
          <p:cNvPr name="TextBox 12" id="12"/>
          <p:cNvSpPr txBox="true"/>
          <p:nvPr/>
        </p:nvSpPr>
        <p:spPr>
          <a:xfrm rot="0">
            <a:off x="3367400" y="5782687"/>
            <a:ext cx="11362940" cy="256882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An unconditioned stimulus is a stimulus or trigger that leads to an automatic response. If a cold breeze makes you shiver, for instance, the cold breeze is an unconditioned stimulus; it produces an involuntary response (the shivering).</a:t>
            </a:r>
          </a:p>
          <a:p>
            <a:pPr algn="just">
              <a:lnSpc>
                <a:spcPts val="2968"/>
              </a:lnSpc>
            </a:pPr>
          </a:p>
        </p:txBody>
      </p:sp>
      <p:sp>
        <p:nvSpPr>
          <p:cNvPr name="Freeform 13" id="13"/>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110257" y="3994905"/>
            <a:ext cx="1483284" cy="1740158"/>
            <a:chOff x="0" y="0"/>
            <a:chExt cx="390659" cy="458313"/>
          </a:xfrm>
        </p:grpSpPr>
        <p:sp>
          <p:nvSpPr>
            <p:cNvPr name="Freeform 17" id="17"/>
            <p:cNvSpPr/>
            <p:nvPr/>
          </p:nvSpPr>
          <p:spPr>
            <a:xfrm flipH="false" flipV="false" rot="0">
              <a:off x="0" y="0"/>
              <a:ext cx="390659" cy="458313"/>
            </a:xfrm>
            <a:custGeom>
              <a:avLst/>
              <a:gdLst/>
              <a:ahLst/>
              <a:cxnLst/>
              <a:rect r="r" b="b" t="t" l="l"/>
              <a:pathLst>
                <a:path h="458313" w="390659">
                  <a:moveTo>
                    <a:pt x="0" y="0"/>
                  </a:moveTo>
                  <a:lnTo>
                    <a:pt x="390659" y="0"/>
                  </a:lnTo>
                  <a:lnTo>
                    <a:pt x="390659" y="458313"/>
                  </a:lnTo>
                  <a:lnTo>
                    <a:pt x="0" y="458313"/>
                  </a:lnTo>
                  <a:close/>
                </a:path>
              </a:pathLst>
            </a:custGeom>
            <a:solidFill>
              <a:srgbClr val="00949D"/>
            </a:solidFill>
          </p:spPr>
        </p:sp>
        <p:sp>
          <p:nvSpPr>
            <p:cNvPr name="TextBox 18" id="18"/>
            <p:cNvSpPr txBox="true"/>
            <p:nvPr/>
          </p:nvSpPr>
          <p:spPr>
            <a:xfrm>
              <a:off x="0" y="-38100"/>
              <a:ext cx="390659" cy="496413"/>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4371271"/>
            <a:ext cx="1646398" cy="1025525"/>
          </a:xfrm>
          <a:prstGeom prst="rect">
            <a:avLst/>
          </a:prstGeom>
        </p:spPr>
        <p:txBody>
          <a:bodyPr anchor="t" rtlCol="false" tIns="0" lIns="0" bIns="0" rIns="0">
            <a:spAutoFit/>
          </a:bodyPr>
          <a:lstStyle/>
          <a:p>
            <a:pPr algn="ctr">
              <a:lnSpc>
                <a:spcPts val="8049"/>
              </a:lnSpc>
            </a:pPr>
            <a:r>
              <a:rPr lang="en-US" sz="6999" spc="272">
                <a:solidFill>
                  <a:srgbClr val="FFFFFF"/>
                </a:solidFill>
                <a:latin typeface="Anton"/>
                <a:ea typeface="Anton"/>
                <a:cs typeface="Anton"/>
                <a:sym typeface="Anton"/>
              </a:rPr>
              <a:t>01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0"/>
            <a:ext cx="18288000" cy="5471160"/>
            <a:chOff x="0" y="0"/>
            <a:chExt cx="24384000" cy="7294880"/>
          </a:xfrm>
        </p:grpSpPr>
        <p:pic>
          <p:nvPicPr>
            <p:cNvPr name="Picture 7" id="7"/>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8" id="8"/>
          <p:cNvGrpSpPr/>
          <p:nvPr/>
        </p:nvGrpSpPr>
        <p:grpSpPr>
          <a:xfrm rot="0">
            <a:off x="2731348" y="3994905"/>
            <a:ext cx="12629587" cy="4622625"/>
            <a:chOff x="0" y="0"/>
            <a:chExt cx="3326311" cy="1217481"/>
          </a:xfrm>
        </p:grpSpPr>
        <p:sp>
          <p:nvSpPr>
            <p:cNvPr name="Freeform 9" id="9"/>
            <p:cNvSpPr/>
            <p:nvPr/>
          </p:nvSpPr>
          <p:spPr>
            <a:xfrm flipH="false" flipV="false" rot="0">
              <a:off x="0" y="0"/>
              <a:ext cx="3326311" cy="1217481"/>
            </a:xfrm>
            <a:custGeom>
              <a:avLst/>
              <a:gdLst/>
              <a:ahLst/>
              <a:cxnLst/>
              <a:rect r="r" b="b" t="t" l="l"/>
              <a:pathLst>
                <a:path h="1217481" w="3326311">
                  <a:moveTo>
                    <a:pt x="0" y="0"/>
                  </a:moveTo>
                  <a:lnTo>
                    <a:pt x="3326311" y="0"/>
                  </a:lnTo>
                  <a:lnTo>
                    <a:pt x="3326311" y="1217481"/>
                  </a:lnTo>
                  <a:lnTo>
                    <a:pt x="0" y="1217481"/>
                  </a:lnTo>
                  <a:close/>
                </a:path>
              </a:pathLst>
            </a:custGeom>
            <a:solidFill>
              <a:srgbClr val="00949D"/>
            </a:solidFill>
          </p:spPr>
        </p:sp>
        <p:sp>
          <p:nvSpPr>
            <p:cNvPr name="TextBox 10" id="10"/>
            <p:cNvSpPr txBox="true"/>
            <p:nvPr/>
          </p:nvSpPr>
          <p:spPr>
            <a:xfrm>
              <a:off x="0" y="-38100"/>
              <a:ext cx="3326311" cy="125558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367400" y="4445635"/>
            <a:ext cx="10008938" cy="2044700"/>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Neutral Stimulus</a:t>
            </a:r>
          </a:p>
          <a:p>
            <a:pPr algn="l">
              <a:lnSpc>
                <a:spcPts val="8049"/>
              </a:lnSpc>
            </a:pPr>
          </a:p>
        </p:txBody>
      </p:sp>
      <p:sp>
        <p:nvSpPr>
          <p:cNvPr name="TextBox 12" id="12"/>
          <p:cNvSpPr txBox="true"/>
          <p:nvPr/>
        </p:nvSpPr>
        <p:spPr>
          <a:xfrm rot="0">
            <a:off x="3367400" y="5782687"/>
            <a:ext cx="11362940" cy="256882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A neutral stimulus is a stimulus that doesn't initially trigger a response on its own. If you hear the sound of a fan but don't feel the breeze, for example, it wouldn't necessarily trigger a response. That would make it a neutral stimulus.</a:t>
            </a:r>
          </a:p>
          <a:p>
            <a:pPr algn="just">
              <a:lnSpc>
                <a:spcPts val="2968"/>
              </a:lnSpc>
            </a:pPr>
          </a:p>
        </p:txBody>
      </p:sp>
      <p:sp>
        <p:nvSpPr>
          <p:cNvPr name="Freeform 13" id="13"/>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110257" y="3994905"/>
            <a:ext cx="1483284" cy="1740158"/>
            <a:chOff x="0" y="0"/>
            <a:chExt cx="390659" cy="458313"/>
          </a:xfrm>
        </p:grpSpPr>
        <p:sp>
          <p:nvSpPr>
            <p:cNvPr name="Freeform 17" id="17"/>
            <p:cNvSpPr/>
            <p:nvPr/>
          </p:nvSpPr>
          <p:spPr>
            <a:xfrm flipH="false" flipV="false" rot="0">
              <a:off x="0" y="0"/>
              <a:ext cx="390659" cy="458313"/>
            </a:xfrm>
            <a:custGeom>
              <a:avLst/>
              <a:gdLst/>
              <a:ahLst/>
              <a:cxnLst/>
              <a:rect r="r" b="b" t="t" l="l"/>
              <a:pathLst>
                <a:path h="458313" w="390659">
                  <a:moveTo>
                    <a:pt x="0" y="0"/>
                  </a:moveTo>
                  <a:lnTo>
                    <a:pt x="390659" y="0"/>
                  </a:lnTo>
                  <a:lnTo>
                    <a:pt x="390659" y="458313"/>
                  </a:lnTo>
                  <a:lnTo>
                    <a:pt x="0" y="458313"/>
                  </a:lnTo>
                  <a:close/>
                </a:path>
              </a:pathLst>
            </a:custGeom>
            <a:solidFill>
              <a:srgbClr val="00949D"/>
            </a:solidFill>
          </p:spPr>
        </p:sp>
        <p:sp>
          <p:nvSpPr>
            <p:cNvPr name="TextBox 18" id="18"/>
            <p:cNvSpPr txBox="true"/>
            <p:nvPr/>
          </p:nvSpPr>
          <p:spPr>
            <a:xfrm>
              <a:off x="0" y="-38100"/>
              <a:ext cx="390659" cy="496413"/>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4371271"/>
            <a:ext cx="1646398" cy="1025525"/>
          </a:xfrm>
          <a:prstGeom prst="rect">
            <a:avLst/>
          </a:prstGeom>
        </p:spPr>
        <p:txBody>
          <a:bodyPr anchor="t" rtlCol="false" tIns="0" lIns="0" bIns="0" rIns="0">
            <a:spAutoFit/>
          </a:bodyPr>
          <a:lstStyle/>
          <a:p>
            <a:pPr algn="ctr">
              <a:lnSpc>
                <a:spcPts val="8049"/>
              </a:lnSpc>
            </a:pPr>
            <a:r>
              <a:rPr lang="en-US" sz="6999" spc="272">
                <a:solidFill>
                  <a:srgbClr val="FFFFFF"/>
                </a:solidFill>
                <a:latin typeface="Anton"/>
                <a:ea typeface="Anton"/>
                <a:cs typeface="Anton"/>
                <a:sym typeface="Anton"/>
              </a:rPr>
              <a:t>02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0"/>
            <a:ext cx="18288000" cy="5471160"/>
            <a:chOff x="0" y="0"/>
            <a:chExt cx="24384000" cy="7294880"/>
          </a:xfrm>
        </p:grpSpPr>
        <p:pic>
          <p:nvPicPr>
            <p:cNvPr name="Picture 7" id="7"/>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8" id="8"/>
          <p:cNvGrpSpPr/>
          <p:nvPr/>
        </p:nvGrpSpPr>
        <p:grpSpPr>
          <a:xfrm rot="0">
            <a:off x="2731348" y="3994905"/>
            <a:ext cx="12629587" cy="4622625"/>
            <a:chOff x="0" y="0"/>
            <a:chExt cx="3326311" cy="1217481"/>
          </a:xfrm>
        </p:grpSpPr>
        <p:sp>
          <p:nvSpPr>
            <p:cNvPr name="Freeform 9" id="9"/>
            <p:cNvSpPr/>
            <p:nvPr/>
          </p:nvSpPr>
          <p:spPr>
            <a:xfrm flipH="false" flipV="false" rot="0">
              <a:off x="0" y="0"/>
              <a:ext cx="3326311" cy="1217481"/>
            </a:xfrm>
            <a:custGeom>
              <a:avLst/>
              <a:gdLst/>
              <a:ahLst/>
              <a:cxnLst/>
              <a:rect r="r" b="b" t="t" l="l"/>
              <a:pathLst>
                <a:path h="1217481" w="3326311">
                  <a:moveTo>
                    <a:pt x="0" y="0"/>
                  </a:moveTo>
                  <a:lnTo>
                    <a:pt x="3326311" y="0"/>
                  </a:lnTo>
                  <a:lnTo>
                    <a:pt x="3326311" y="1217481"/>
                  </a:lnTo>
                  <a:lnTo>
                    <a:pt x="0" y="1217481"/>
                  </a:lnTo>
                  <a:close/>
                </a:path>
              </a:pathLst>
            </a:custGeom>
            <a:solidFill>
              <a:srgbClr val="00949D"/>
            </a:solidFill>
          </p:spPr>
        </p:sp>
        <p:sp>
          <p:nvSpPr>
            <p:cNvPr name="TextBox 10" id="10"/>
            <p:cNvSpPr txBox="true"/>
            <p:nvPr/>
          </p:nvSpPr>
          <p:spPr>
            <a:xfrm>
              <a:off x="0" y="-38100"/>
              <a:ext cx="3326311" cy="125558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367400" y="4445635"/>
            <a:ext cx="10008938" cy="2044700"/>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Conditioned Stimulus</a:t>
            </a:r>
          </a:p>
          <a:p>
            <a:pPr algn="l">
              <a:lnSpc>
                <a:spcPts val="8049"/>
              </a:lnSpc>
            </a:pPr>
          </a:p>
        </p:txBody>
      </p:sp>
      <p:sp>
        <p:nvSpPr>
          <p:cNvPr name="TextBox 12" id="12"/>
          <p:cNvSpPr txBox="true"/>
          <p:nvPr/>
        </p:nvSpPr>
        <p:spPr>
          <a:xfrm rot="0">
            <a:off x="3364671" y="5782687"/>
            <a:ext cx="11362940" cy="344512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A conditioned stimulus is a stimulus that was once neutral (didn't trigger a response) but now leads to a response. If you previously didn't pay attention to dogs, but then got bit by one, and now you feel fear every time you see a dog, the dog has become a conditioned stimulus.</a:t>
            </a:r>
          </a:p>
          <a:p>
            <a:pPr algn="just">
              <a:lnSpc>
                <a:spcPts val="3497"/>
              </a:lnSpc>
            </a:pPr>
          </a:p>
          <a:p>
            <a:pPr algn="just">
              <a:lnSpc>
                <a:spcPts val="2968"/>
              </a:lnSpc>
            </a:pPr>
          </a:p>
        </p:txBody>
      </p:sp>
      <p:sp>
        <p:nvSpPr>
          <p:cNvPr name="Freeform 13" id="13"/>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110257" y="3994905"/>
            <a:ext cx="1483284" cy="1740158"/>
            <a:chOff x="0" y="0"/>
            <a:chExt cx="390659" cy="458313"/>
          </a:xfrm>
        </p:grpSpPr>
        <p:sp>
          <p:nvSpPr>
            <p:cNvPr name="Freeform 17" id="17"/>
            <p:cNvSpPr/>
            <p:nvPr/>
          </p:nvSpPr>
          <p:spPr>
            <a:xfrm flipH="false" flipV="false" rot="0">
              <a:off x="0" y="0"/>
              <a:ext cx="390659" cy="458313"/>
            </a:xfrm>
            <a:custGeom>
              <a:avLst/>
              <a:gdLst/>
              <a:ahLst/>
              <a:cxnLst/>
              <a:rect r="r" b="b" t="t" l="l"/>
              <a:pathLst>
                <a:path h="458313" w="390659">
                  <a:moveTo>
                    <a:pt x="0" y="0"/>
                  </a:moveTo>
                  <a:lnTo>
                    <a:pt x="390659" y="0"/>
                  </a:lnTo>
                  <a:lnTo>
                    <a:pt x="390659" y="458313"/>
                  </a:lnTo>
                  <a:lnTo>
                    <a:pt x="0" y="458313"/>
                  </a:lnTo>
                  <a:close/>
                </a:path>
              </a:pathLst>
            </a:custGeom>
            <a:solidFill>
              <a:srgbClr val="00949D"/>
            </a:solidFill>
          </p:spPr>
        </p:sp>
        <p:sp>
          <p:nvSpPr>
            <p:cNvPr name="TextBox 18" id="18"/>
            <p:cNvSpPr txBox="true"/>
            <p:nvPr/>
          </p:nvSpPr>
          <p:spPr>
            <a:xfrm>
              <a:off x="0" y="-38100"/>
              <a:ext cx="390659" cy="496413"/>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4371271"/>
            <a:ext cx="1646398" cy="1025525"/>
          </a:xfrm>
          <a:prstGeom prst="rect">
            <a:avLst/>
          </a:prstGeom>
        </p:spPr>
        <p:txBody>
          <a:bodyPr anchor="t" rtlCol="false" tIns="0" lIns="0" bIns="0" rIns="0">
            <a:spAutoFit/>
          </a:bodyPr>
          <a:lstStyle/>
          <a:p>
            <a:pPr algn="ctr">
              <a:lnSpc>
                <a:spcPts val="8049"/>
              </a:lnSpc>
            </a:pPr>
            <a:r>
              <a:rPr lang="en-US" sz="6999" spc="272">
                <a:solidFill>
                  <a:srgbClr val="FFFFFF"/>
                </a:solidFill>
                <a:latin typeface="Anton"/>
                <a:ea typeface="Anton"/>
                <a:cs typeface="Anton"/>
                <a:sym typeface="Anton"/>
              </a:rPr>
              <a:t>03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0"/>
            <a:ext cx="18288000" cy="5471160"/>
            <a:chOff x="0" y="0"/>
            <a:chExt cx="24384000" cy="7294880"/>
          </a:xfrm>
        </p:grpSpPr>
        <p:pic>
          <p:nvPicPr>
            <p:cNvPr name="Picture 7" id="7"/>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8" id="8"/>
          <p:cNvGrpSpPr/>
          <p:nvPr/>
        </p:nvGrpSpPr>
        <p:grpSpPr>
          <a:xfrm rot="0">
            <a:off x="2731348" y="3994905"/>
            <a:ext cx="12629587" cy="4622625"/>
            <a:chOff x="0" y="0"/>
            <a:chExt cx="3326311" cy="1217481"/>
          </a:xfrm>
        </p:grpSpPr>
        <p:sp>
          <p:nvSpPr>
            <p:cNvPr name="Freeform 9" id="9"/>
            <p:cNvSpPr/>
            <p:nvPr/>
          </p:nvSpPr>
          <p:spPr>
            <a:xfrm flipH="false" flipV="false" rot="0">
              <a:off x="0" y="0"/>
              <a:ext cx="3326311" cy="1217481"/>
            </a:xfrm>
            <a:custGeom>
              <a:avLst/>
              <a:gdLst/>
              <a:ahLst/>
              <a:cxnLst/>
              <a:rect r="r" b="b" t="t" l="l"/>
              <a:pathLst>
                <a:path h="1217481" w="3326311">
                  <a:moveTo>
                    <a:pt x="0" y="0"/>
                  </a:moveTo>
                  <a:lnTo>
                    <a:pt x="3326311" y="0"/>
                  </a:lnTo>
                  <a:lnTo>
                    <a:pt x="3326311" y="1217481"/>
                  </a:lnTo>
                  <a:lnTo>
                    <a:pt x="0" y="1217481"/>
                  </a:lnTo>
                  <a:close/>
                </a:path>
              </a:pathLst>
            </a:custGeom>
            <a:solidFill>
              <a:srgbClr val="00949D"/>
            </a:solidFill>
          </p:spPr>
        </p:sp>
        <p:sp>
          <p:nvSpPr>
            <p:cNvPr name="TextBox 10" id="10"/>
            <p:cNvSpPr txBox="true"/>
            <p:nvPr/>
          </p:nvSpPr>
          <p:spPr>
            <a:xfrm>
              <a:off x="0" y="-38100"/>
              <a:ext cx="3326311" cy="125558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367400" y="4445635"/>
            <a:ext cx="10008938" cy="2044700"/>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Unconditioned Response</a:t>
            </a:r>
          </a:p>
          <a:p>
            <a:pPr algn="l">
              <a:lnSpc>
                <a:spcPts val="8049"/>
              </a:lnSpc>
            </a:pPr>
          </a:p>
        </p:txBody>
      </p:sp>
      <p:sp>
        <p:nvSpPr>
          <p:cNvPr name="TextBox 12" id="12"/>
          <p:cNvSpPr txBox="true"/>
          <p:nvPr/>
        </p:nvSpPr>
        <p:spPr>
          <a:xfrm rot="0">
            <a:off x="3364671" y="5782687"/>
            <a:ext cx="11362940" cy="256882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An unconditioned response is an automatic response or a response that occurs without thought when an unconditioned stimulus is present. If you smell your favorite food and your mouth starts watering, the watering is an unconditioned response.</a:t>
            </a:r>
          </a:p>
          <a:p>
            <a:pPr algn="just">
              <a:lnSpc>
                <a:spcPts val="2968"/>
              </a:lnSpc>
            </a:pPr>
          </a:p>
        </p:txBody>
      </p:sp>
      <p:sp>
        <p:nvSpPr>
          <p:cNvPr name="Freeform 13" id="13"/>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110257" y="3994905"/>
            <a:ext cx="1483284" cy="1740158"/>
            <a:chOff x="0" y="0"/>
            <a:chExt cx="390659" cy="458313"/>
          </a:xfrm>
        </p:grpSpPr>
        <p:sp>
          <p:nvSpPr>
            <p:cNvPr name="Freeform 17" id="17"/>
            <p:cNvSpPr/>
            <p:nvPr/>
          </p:nvSpPr>
          <p:spPr>
            <a:xfrm flipH="false" flipV="false" rot="0">
              <a:off x="0" y="0"/>
              <a:ext cx="390659" cy="458313"/>
            </a:xfrm>
            <a:custGeom>
              <a:avLst/>
              <a:gdLst/>
              <a:ahLst/>
              <a:cxnLst/>
              <a:rect r="r" b="b" t="t" l="l"/>
              <a:pathLst>
                <a:path h="458313" w="390659">
                  <a:moveTo>
                    <a:pt x="0" y="0"/>
                  </a:moveTo>
                  <a:lnTo>
                    <a:pt x="390659" y="0"/>
                  </a:lnTo>
                  <a:lnTo>
                    <a:pt x="390659" y="458313"/>
                  </a:lnTo>
                  <a:lnTo>
                    <a:pt x="0" y="458313"/>
                  </a:lnTo>
                  <a:close/>
                </a:path>
              </a:pathLst>
            </a:custGeom>
            <a:solidFill>
              <a:srgbClr val="00949D"/>
            </a:solidFill>
          </p:spPr>
        </p:sp>
        <p:sp>
          <p:nvSpPr>
            <p:cNvPr name="TextBox 18" id="18"/>
            <p:cNvSpPr txBox="true"/>
            <p:nvPr/>
          </p:nvSpPr>
          <p:spPr>
            <a:xfrm>
              <a:off x="0" y="-38100"/>
              <a:ext cx="390659" cy="496413"/>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4371271"/>
            <a:ext cx="1646398" cy="1025525"/>
          </a:xfrm>
          <a:prstGeom prst="rect">
            <a:avLst/>
          </a:prstGeom>
        </p:spPr>
        <p:txBody>
          <a:bodyPr anchor="t" rtlCol="false" tIns="0" lIns="0" bIns="0" rIns="0">
            <a:spAutoFit/>
          </a:bodyPr>
          <a:lstStyle/>
          <a:p>
            <a:pPr algn="ctr">
              <a:lnSpc>
                <a:spcPts val="8049"/>
              </a:lnSpc>
            </a:pPr>
            <a:r>
              <a:rPr lang="en-US" sz="6999" spc="272">
                <a:solidFill>
                  <a:srgbClr val="FFFFFF"/>
                </a:solidFill>
                <a:latin typeface="Anton"/>
                <a:ea typeface="Anton"/>
                <a:cs typeface="Anton"/>
                <a:sym typeface="Anton"/>
              </a:rPr>
              <a:t>04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0"/>
            <a:ext cx="18288000" cy="5471160"/>
            <a:chOff x="0" y="0"/>
            <a:chExt cx="24384000" cy="7294880"/>
          </a:xfrm>
        </p:grpSpPr>
        <p:pic>
          <p:nvPicPr>
            <p:cNvPr name="Picture 7" id="7"/>
            <p:cNvPicPr>
              <a:picLocks noChangeAspect="true"/>
            </p:cNvPicPr>
            <p:nvPr/>
          </p:nvPicPr>
          <p:blipFill>
            <a:blip r:embed="rId3"/>
            <a:srcRect l="0" t="27215" r="0" b="20642"/>
            <a:stretch>
              <a:fillRect/>
            </a:stretch>
          </p:blipFill>
          <p:spPr>
            <a:xfrm flipH="false" flipV="false">
              <a:off x="0" y="0"/>
              <a:ext cx="24384000" cy="7294880"/>
            </a:xfrm>
            <a:prstGeom prst="rect">
              <a:avLst/>
            </a:prstGeom>
          </p:spPr>
        </p:pic>
      </p:grpSp>
      <p:grpSp>
        <p:nvGrpSpPr>
          <p:cNvPr name="Group 8" id="8"/>
          <p:cNvGrpSpPr/>
          <p:nvPr/>
        </p:nvGrpSpPr>
        <p:grpSpPr>
          <a:xfrm rot="0">
            <a:off x="2731348" y="3994905"/>
            <a:ext cx="12629587" cy="4622625"/>
            <a:chOff x="0" y="0"/>
            <a:chExt cx="3326311" cy="1217481"/>
          </a:xfrm>
        </p:grpSpPr>
        <p:sp>
          <p:nvSpPr>
            <p:cNvPr name="Freeform 9" id="9"/>
            <p:cNvSpPr/>
            <p:nvPr/>
          </p:nvSpPr>
          <p:spPr>
            <a:xfrm flipH="false" flipV="false" rot="0">
              <a:off x="0" y="0"/>
              <a:ext cx="3326311" cy="1217481"/>
            </a:xfrm>
            <a:custGeom>
              <a:avLst/>
              <a:gdLst/>
              <a:ahLst/>
              <a:cxnLst/>
              <a:rect r="r" b="b" t="t" l="l"/>
              <a:pathLst>
                <a:path h="1217481" w="3326311">
                  <a:moveTo>
                    <a:pt x="0" y="0"/>
                  </a:moveTo>
                  <a:lnTo>
                    <a:pt x="3326311" y="0"/>
                  </a:lnTo>
                  <a:lnTo>
                    <a:pt x="3326311" y="1217481"/>
                  </a:lnTo>
                  <a:lnTo>
                    <a:pt x="0" y="1217481"/>
                  </a:lnTo>
                  <a:close/>
                </a:path>
              </a:pathLst>
            </a:custGeom>
            <a:solidFill>
              <a:srgbClr val="00949D"/>
            </a:solidFill>
          </p:spPr>
        </p:sp>
        <p:sp>
          <p:nvSpPr>
            <p:cNvPr name="TextBox 10" id="10"/>
            <p:cNvSpPr txBox="true"/>
            <p:nvPr/>
          </p:nvSpPr>
          <p:spPr>
            <a:xfrm>
              <a:off x="0" y="-38100"/>
              <a:ext cx="3326311" cy="125558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367400" y="4445635"/>
            <a:ext cx="10008938" cy="2044700"/>
          </a:xfrm>
          <a:prstGeom prst="rect">
            <a:avLst/>
          </a:prstGeom>
        </p:spPr>
        <p:txBody>
          <a:bodyPr anchor="t" rtlCol="false" tIns="0" lIns="0" bIns="0" rIns="0">
            <a:spAutoFit/>
          </a:bodyPr>
          <a:lstStyle/>
          <a:p>
            <a:pPr algn="l">
              <a:lnSpc>
                <a:spcPts val="8049"/>
              </a:lnSpc>
            </a:pPr>
            <a:r>
              <a:rPr lang="en-US" sz="6999" spc="272">
                <a:solidFill>
                  <a:srgbClr val="FFFFFF"/>
                </a:solidFill>
                <a:latin typeface="Anton"/>
                <a:ea typeface="Anton"/>
                <a:cs typeface="Anton"/>
                <a:sym typeface="Anton"/>
              </a:rPr>
              <a:t>Conditioned Response</a:t>
            </a:r>
          </a:p>
          <a:p>
            <a:pPr algn="l">
              <a:lnSpc>
                <a:spcPts val="8049"/>
              </a:lnSpc>
            </a:pPr>
          </a:p>
        </p:txBody>
      </p:sp>
      <p:sp>
        <p:nvSpPr>
          <p:cNvPr name="TextBox 12" id="12"/>
          <p:cNvSpPr txBox="true"/>
          <p:nvPr/>
        </p:nvSpPr>
        <p:spPr>
          <a:xfrm rot="0">
            <a:off x="3364671" y="5782687"/>
            <a:ext cx="11362940" cy="2568829"/>
          </a:xfrm>
          <a:prstGeom prst="rect">
            <a:avLst/>
          </a:prstGeom>
        </p:spPr>
        <p:txBody>
          <a:bodyPr anchor="t" rtlCol="false" tIns="0" lIns="0" bIns="0" rIns="0">
            <a:spAutoFit/>
          </a:bodyPr>
          <a:lstStyle/>
          <a:p>
            <a:pPr algn="just">
              <a:lnSpc>
                <a:spcPts val="3497"/>
              </a:lnSpc>
            </a:pPr>
            <a:r>
              <a:rPr lang="en-US" sz="3299" spc="-89">
                <a:solidFill>
                  <a:srgbClr val="FFFFFF"/>
                </a:solidFill>
                <a:latin typeface="Montserrat"/>
                <a:ea typeface="Montserrat"/>
                <a:cs typeface="Montserrat"/>
                <a:sym typeface="Montserrat"/>
              </a:rPr>
              <a:t>A conditioned response is a learned response or a response that is created where no response existed before. Going back to the example of being bit by a dog, the fear you experience after the bite is a conditioned response.</a:t>
            </a:r>
          </a:p>
          <a:p>
            <a:pPr algn="just">
              <a:lnSpc>
                <a:spcPts val="2968"/>
              </a:lnSpc>
            </a:pPr>
          </a:p>
        </p:txBody>
      </p:sp>
      <p:sp>
        <p:nvSpPr>
          <p:cNvPr name="Freeform 13" id="13"/>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110257" y="3994905"/>
            <a:ext cx="1483284" cy="1740158"/>
            <a:chOff x="0" y="0"/>
            <a:chExt cx="390659" cy="458313"/>
          </a:xfrm>
        </p:grpSpPr>
        <p:sp>
          <p:nvSpPr>
            <p:cNvPr name="Freeform 17" id="17"/>
            <p:cNvSpPr/>
            <p:nvPr/>
          </p:nvSpPr>
          <p:spPr>
            <a:xfrm flipH="false" flipV="false" rot="0">
              <a:off x="0" y="0"/>
              <a:ext cx="390659" cy="458313"/>
            </a:xfrm>
            <a:custGeom>
              <a:avLst/>
              <a:gdLst/>
              <a:ahLst/>
              <a:cxnLst/>
              <a:rect r="r" b="b" t="t" l="l"/>
              <a:pathLst>
                <a:path h="458313" w="390659">
                  <a:moveTo>
                    <a:pt x="0" y="0"/>
                  </a:moveTo>
                  <a:lnTo>
                    <a:pt x="390659" y="0"/>
                  </a:lnTo>
                  <a:lnTo>
                    <a:pt x="390659" y="458313"/>
                  </a:lnTo>
                  <a:lnTo>
                    <a:pt x="0" y="458313"/>
                  </a:lnTo>
                  <a:close/>
                </a:path>
              </a:pathLst>
            </a:custGeom>
            <a:solidFill>
              <a:srgbClr val="00949D"/>
            </a:solidFill>
          </p:spPr>
        </p:sp>
        <p:sp>
          <p:nvSpPr>
            <p:cNvPr name="TextBox 18" id="18"/>
            <p:cNvSpPr txBox="true"/>
            <p:nvPr/>
          </p:nvSpPr>
          <p:spPr>
            <a:xfrm>
              <a:off x="0" y="-38100"/>
              <a:ext cx="390659" cy="496413"/>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4371271"/>
            <a:ext cx="1646398" cy="1025525"/>
          </a:xfrm>
          <a:prstGeom prst="rect">
            <a:avLst/>
          </a:prstGeom>
        </p:spPr>
        <p:txBody>
          <a:bodyPr anchor="t" rtlCol="false" tIns="0" lIns="0" bIns="0" rIns="0">
            <a:spAutoFit/>
          </a:bodyPr>
          <a:lstStyle/>
          <a:p>
            <a:pPr algn="ctr">
              <a:lnSpc>
                <a:spcPts val="8049"/>
              </a:lnSpc>
            </a:pPr>
            <a:r>
              <a:rPr lang="en-US" sz="6999" spc="272">
                <a:solidFill>
                  <a:srgbClr val="FFFFFF"/>
                </a:solidFill>
                <a:latin typeface="Anton"/>
                <a:ea typeface="Anton"/>
                <a:cs typeface="Anton"/>
                <a:sym typeface="Anton"/>
              </a:rPr>
              <a:t>05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2700000">
            <a:off x="7278105" y="4560546"/>
            <a:ext cx="16683427" cy="7187469"/>
            <a:chOff x="0" y="0"/>
            <a:chExt cx="4393989" cy="1892996"/>
          </a:xfrm>
        </p:grpSpPr>
        <p:sp>
          <p:nvSpPr>
            <p:cNvPr name="Freeform 5" id="5"/>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6" id="6"/>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77856"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28706" y="925830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28700" y="836168"/>
            <a:ext cx="534250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B.F. SKINNER</a:t>
            </a:r>
          </a:p>
        </p:txBody>
      </p:sp>
      <p:sp>
        <p:nvSpPr>
          <p:cNvPr name="TextBox 11" id="11"/>
          <p:cNvSpPr txBox="true"/>
          <p:nvPr/>
        </p:nvSpPr>
        <p:spPr>
          <a:xfrm rot="0">
            <a:off x="1594081" y="2339568"/>
            <a:ext cx="14967949" cy="6153785"/>
          </a:xfrm>
          <a:prstGeom prst="rect">
            <a:avLst/>
          </a:prstGeom>
        </p:spPr>
        <p:txBody>
          <a:bodyPr anchor="t" rtlCol="false" tIns="0" lIns="0" bIns="0" rIns="0">
            <a:spAutoFit/>
          </a:bodyPr>
          <a:lstStyle/>
          <a:p>
            <a:pPr algn="just">
              <a:lnSpc>
                <a:spcPts val="5091"/>
              </a:lnSpc>
            </a:pPr>
            <a:r>
              <a:rPr lang="en-US" sz="3799" spc="102">
                <a:solidFill>
                  <a:srgbClr val="007076"/>
                </a:solidFill>
                <a:latin typeface="Montserrat"/>
                <a:ea typeface="Montserrat"/>
                <a:cs typeface="Montserrat"/>
                <a:sym typeface="Montserrat"/>
              </a:rPr>
              <a:t>-B. F. Skinner (1904-1990) was an American psychologist known for his impact on behaviorism. In a 2002 survey of psychologists, he was identified as the most influential psychologist of the 20th century.</a:t>
            </a:r>
          </a:p>
          <a:p>
            <a:pPr algn="just">
              <a:lnSpc>
                <a:spcPts val="5091"/>
              </a:lnSpc>
            </a:pPr>
          </a:p>
          <a:p>
            <a:pPr algn="just">
              <a:lnSpc>
                <a:spcPts val="5091"/>
              </a:lnSpc>
            </a:pPr>
            <a:r>
              <a:rPr lang="en-US" sz="3799" spc="102">
                <a:solidFill>
                  <a:srgbClr val="007076"/>
                </a:solidFill>
                <a:latin typeface="Montserrat"/>
                <a:ea typeface="Montserrat"/>
                <a:cs typeface="Montserrat"/>
                <a:sym typeface="Montserrat"/>
              </a:rPr>
              <a:t>-</a:t>
            </a:r>
            <a:r>
              <a:rPr lang="en-US" sz="3799" spc="102">
                <a:solidFill>
                  <a:srgbClr val="007076"/>
                </a:solidFill>
                <a:latin typeface="Montserrat"/>
                <a:ea typeface="Montserrat"/>
                <a:cs typeface="Montserrat"/>
                <a:sym typeface="Montserrat"/>
              </a:rPr>
              <a:t>B. F. Skinner himself referred to his philosophy as "radical behaviorism." He suggested that the concept of free will was simply an illusion and, instead, believed that all human action was the direct result of conditioning.</a:t>
            </a:r>
          </a:p>
          <a:p>
            <a:pPr algn="just">
              <a:lnSpc>
                <a:spcPts val="2968"/>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747313"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5162904" y="1851832"/>
            <a:ext cx="12582600" cy="6122721"/>
            <a:chOff x="0" y="0"/>
            <a:chExt cx="20048419" cy="9755605"/>
          </a:xfrm>
        </p:grpSpPr>
        <p:sp>
          <p:nvSpPr>
            <p:cNvPr name="Freeform 11" id="11"/>
            <p:cNvSpPr/>
            <p:nvPr/>
          </p:nvSpPr>
          <p:spPr>
            <a:xfrm flipH="false" flipV="false" rot="0">
              <a:off x="0" y="0"/>
              <a:ext cx="20048418" cy="9755605"/>
            </a:xfrm>
            <a:custGeom>
              <a:avLst/>
              <a:gdLst/>
              <a:ahLst/>
              <a:cxnLst/>
              <a:rect r="r" b="b" t="t" l="l"/>
              <a:pathLst>
                <a:path h="9755605" w="20048418">
                  <a:moveTo>
                    <a:pt x="0" y="0"/>
                  </a:moveTo>
                  <a:lnTo>
                    <a:pt x="0" y="9755605"/>
                  </a:lnTo>
                  <a:lnTo>
                    <a:pt x="20048418" y="9755605"/>
                  </a:lnTo>
                  <a:lnTo>
                    <a:pt x="20048418" y="0"/>
                  </a:lnTo>
                  <a:lnTo>
                    <a:pt x="0" y="0"/>
                  </a:lnTo>
                  <a:close/>
                  <a:moveTo>
                    <a:pt x="19987459" y="9694645"/>
                  </a:moveTo>
                  <a:lnTo>
                    <a:pt x="59690" y="9694645"/>
                  </a:lnTo>
                  <a:lnTo>
                    <a:pt x="59690" y="59690"/>
                  </a:lnTo>
                  <a:lnTo>
                    <a:pt x="19987459" y="59690"/>
                  </a:lnTo>
                  <a:lnTo>
                    <a:pt x="19987459" y="9694645"/>
                  </a:lnTo>
                  <a:close/>
                </a:path>
              </a:pathLst>
            </a:custGeom>
            <a:solidFill>
              <a:srgbClr val="00B2BD"/>
            </a:solidFill>
          </p:spPr>
        </p:sp>
      </p:grpSp>
      <p:sp>
        <p:nvSpPr>
          <p:cNvPr name="Freeform 12" id="12"/>
          <p:cNvSpPr/>
          <p:nvPr/>
        </p:nvSpPr>
        <p:spPr>
          <a:xfrm flipH="false" flipV="false" rot="0">
            <a:off x="8890077" y="5380680"/>
            <a:ext cx="5128255" cy="1799388"/>
          </a:xfrm>
          <a:custGeom>
            <a:avLst/>
            <a:gdLst/>
            <a:ahLst/>
            <a:cxnLst/>
            <a:rect r="r" b="b" t="t" l="l"/>
            <a:pathLst>
              <a:path h="1799388" w="5128255">
                <a:moveTo>
                  <a:pt x="0" y="0"/>
                </a:moveTo>
                <a:lnTo>
                  <a:pt x="5128255" y="0"/>
                </a:lnTo>
                <a:lnTo>
                  <a:pt x="5128255" y="1799387"/>
                </a:lnTo>
                <a:lnTo>
                  <a:pt x="0" y="1799387"/>
                </a:lnTo>
                <a:lnTo>
                  <a:pt x="0" y="0"/>
                </a:lnTo>
                <a:close/>
              </a:path>
            </a:pathLst>
          </a:custGeom>
          <a:blipFill>
            <a:blip r:embed="rId11"/>
            <a:stretch>
              <a:fillRect l="0" t="0" r="0" b="0"/>
            </a:stretch>
          </a:blipFill>
        </p:spPr>
      </p:sp>
      <p:sp>
        <p:nvSpPr>
          <p:cNvPr name="TextBox 13" id="13"/>
          <p:cNvSpPr txBox="true"/>
          <p:nvPr/>
        </p:nvSpPr>
        <p:spPr>
          <a:xfrm rot="0">
            <a:off x="5265421" y="2105988"/>
            <a:ext cx="12480084" cy="2456814"/>
          </a:xfrm>
          <a:prstGeom prst="rect">
            <a:avLst/>
          </a:prstGeom>
        </p:spPr>
        <p:txBody>
          <a:bodyPr anchor="t" rtlCol="false" tIns="0" lIns="0" bIns="0" rIns="0">
            <a:spAutoFit/>
          </a:bodyPr>
          <a:lstStyle/>
          <a:p>
            <a:pPr algn="l">
              <a:lnSpc>
                <a:spcPts val="6304"/>
              </a:lnSpc>
            </a:pPr>
            <a:r>
              <a:rPr lang="en-US" sz="6499" spc="285" b="true">
                <a:solidFill>
                  <a:srgbClr val="007076"/>
                </a:solidFill>
                <a:latin typeface="Montserrat Semi-Bold Bold"/>
                <a:ea typeface="Montserrat Semi-Bold Bold"/>
                <a:cs typeface="Montserrat Semi-Bold Bold"/>
                <a:sym typeface="Montserrat Semi-Bold Bold"/>
              </a:rPr>
              <a:t>Classical Conditioning </a:t>
            </a:r>
          </a:p>
          <a:p>
            <a:pPr algn="l">
              <a:lnSpc>
                <a:spcPts val="6304"/>
              </a:lnSpc>
            </a:pPr>
            <a:r>
              <a:rPr lang="en-US" sz="6499" spc="285" b="true">
                <a:solidFill>
                  <a:srgbClr val="007076"/>
                </a:solidFill>
                <a:latin typeface="Montserrat Semi-Bold Bold"/>
                <a:ea typeface="Montserrat Semi-Bold Bold"/>
                <a:cs typeface="Montserrat Semi-Bold Bold"/>
                <a:sym typeface="Montserrat Semi-Bold Bold"/>
              </a:rPr>
              <a:t>- Pavlov</a:t>
            </a:r>
          </a:p>
          <a:p>
            <a:pPr algn="l">
              <a:lnSpc>
                <a:spcPts val="6304"/>
              </a:lnSpc>
            </a:pPr>
          </a:p>
        </p:txBody>
      </p:sp>
      <p:sp>
        <p:nvSpPr>
          <p:cNvPr name="TextBox 14" id="14"/>
          <p:cNvSpPr txBox="true"/>
          <p:nvPr/>
        </p:nvSpPr>
        <p:spPr>
          <a:xfrm rot="0">
            <a:off x="5269185" y="4256151"/>
            <a:ext cx="11848027" cy="887349"/>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A stimulus is presented </a:t>
            </a:r>
            <a:r>
              <a:rPr lang="en-US" sz="3299" spc="-89">
                <a:solidFill>
                  <a:srgbClr val="007076"/>
                </a:solidFill>
                <a:latin typeface="Montserrat"/>
                <a:ea typeface="Montserrat"/>
                <a:cs typeface="Montserrat"/>
                <a:sym typeface="Montserrat"/>
              </a:rPr>
              <a:t>in order to get a response:</a:t>
            </a:r>
          </a:p>
          <a:p>
            <a:pPr algn="just">
              <a:lnSpc>
                <a:spcPts val="3497"/>
              </a:lnSpc>
            </a:pPr>
          </a:p>
        </p:txBody>
      </p:sp>
      <p:sp>
        <p:nvSpPr>
          <p:cNvPr name="TextBox 15" id="15"/>
          <p:cNvSpPr txBox="true"/>
          <p:nvPr/>
        </p:nvSpPr>
        <p:spPr>
          <a:xfrm rot="-5400000">
            <a:off x="-3565801" y="4400430"/>
            <a:ext cx="12480084" cy="1025525"/>
          </a:xfrm>
          <a:prstGeom prst="rect">
            <a:avLst/>
          </a:prstGeom>
        </p:spPr>
        <p:txBody>
          <a:bodyPr anchor="t" rtlCol="false" tIns="0" lIns="0" bIns="0" rIns="0">
            <a:spAutoFit/>
          </a:bodyPr>
          <a:lstStyle/>
          <a:p>
            <a:pPr algn="ctr">
              <a:lnSpc>
                <a:spcPts val="8049"/>
              </a:lnSpc>
            </a:pPr>
            <a:r>
              <a:rPr lang="en-US" sz="6999" spc="2645">
                <a:solidFill>
                  <a:srgbClr val="FFFFFF"/>
                </a:solidFill>
                <a:latin typeface="Anton"/>
                <a:ea typeface="Anton"/>
                <a:cs typeface="Anton"/>
                <a:sym typeface="Anton"/>
              </a:rPr>
              <a:t>BEHAVIORISM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5162904" y="2779418"/>
            <a:ext cx="7646896" cy="2364082"/>
          </a:xfrm>
          <a:custGeom>
            <a:avLst/>
            <a:gdLst/>
            <a:ahLst/>
            <a:cxnLst/>
            <a:rect r="r" b="b" t="t" l="l"/>
            <a:pathLst>
              <a:path h="2364082" w="7646896">
                <a:moveTo>
                  <a:pt x="0" y="0"/>
                </a:moveTo>
                <a:lnTo>
                  <a:pt x="7646896" y="0"/>
                </a:lnTo>
                <a:lnTo>
                  <a:pt x="7646896" y="2364082"/>
                </a:lnTo>
                <a:lnTo>
                  <a:pt x="0" y="2364082"/>
                </a:lnTo>
                <a:lnTo>
                  <a:pt x="0" y="0"/>
                </a:lnTo>
                <a:close/>
              </a:path>
            </a:pathLst>
          </a:custGeom>
          <a:blipFill>
            <a:blip r:embed="rId9"/>
            <a:stretch>
              <a:fillRect l="0" t="0" r="0" b="0"/>
            </a:stretch>
          </a:blipFill>
        </p:spPr>
      </p:sp>
      <p:sp>
        <p:nvSpPr>
          <p:cNvPr name="Freeform 12" id="12"/>
          <p:cNvSpPr/>
          <p:nvPr/>
        </p:nvSpPr>
        <p:spPr>
          <a:xfrm flipH="false" flipV="false" rot="0">
            <a:off x="8197614" y="5331644"/>
            <a:ext cx="4612187" cy="2932627"/>
          </a:xfrm>
          <a:custGeom>
            <a:avLst/>
            <a:gdLst/>
            <a:ahLst/>
            <a:cxnLst/>
            <a:rect r="r" b="b" t="t" l="l"/>
            <a:pathLst>
              <a:path h="2932627" w="4612187">
                <a:moveTo>
                  <a:pt x="0" y="0"/>
                </a:moveTo>
                <a:lnTo>
                  <a:pt x="4612186" y="0"/>
                </a:lnTo>
                <a:lnTo>
                  <a:pt x="4612186" y="2932627"/>
                </a:lnTo>
                <a:lnTo>
                  <a:pt x="0" y="2932627"/>
                </a:lnTo>
                <a:lnTo>
                  <a:pt x="0" y="0"/>
                </a:lnTo>
                <a:close/>
              </a:path>
            </a:pathLst>
          </a:custGeom>
          <a:blipFill>
            <a:blip r:embed="rId10"/>
            <a:stretch>
              <a:fillRect l="0" t="-561" r="0" b="-561"/>
            </a:stretch>
          </a:blipFill>
        </p:spPr>
      </p:sp>
      <p:sp>
        <p:nvSpPr>
          <p:cNvPr name="Freeform 13" id="13"/>
          <p:cNvSpPr/>
          <p:nvPr/>
        </p:nvSpPr>
        <p:spPr>
          <a:xfrm flipH="false" flipV="false" rot="0">
            <a:off x="13419639" y="3086100"/>
            <a:ext cx="2164199" cy="1597572"/>
          </a:xfrm>
          <a:custGeom>
            <a:avLst/>
            <a:gdLst/>
            <a:ahLst/>
            <a:cxnLst/>
            <a:rect r="r" b="b" t="t" l="l"/>
            <a:pathLst>
              <a:path h="1597572" w="2164199">
                <a:moveTo>
                  <a:pt x="0" y="0"/>
                </a:moveTo>
                <a:lnTo>
                  <a:pt x="2164199" y="0"/>
                </a:lnTo>
                <a:lnTo>
                  <a:pt x="2164199" y="1597572"/>
                </a:lnTo>
                <a:lnTo>
                  <a:pt x="0" y="15975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3419639" y="5999172"/>
            <a:ext cx="1603586" cy="1597572"/>
          </a:xfrm>
          <a:custGeom>
            <a:avLst/>
            <a:gdLst/>
            <a:ahLst/>
            <a:cxnLst/>
            <a:rect r="r" b="b" t="t" l="l"/>
            <a:pathLst>
              <a:path h="1597572" w="1603586">
                <a:moveTo>
                  <a:pt x="0" y="0"/>
                </a:moveTo>
                <a:lnTo>
                  <a:pt x="1603586" y="0"/>
                </a:lnTo>
                <a:lnTo>
                  <a:pt x="1603586" y="1597572"/>
                </a:lnTo>
                <a:lnTo>
                  <a:pt x="0" y="15975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5" id="15"/>
          <p:cNvSpPr txBox="true"/>
          <p:nvPr/>
        </p:nvSpPr>
        <p:spPr>
          <a:xfrm rot="0">
            <a:off x="5265421" y="800913"/>
            <a:ext cx="12480084" cy="2456814"/>
          </a:xfrm>
          <a:prstGeom prst="rect">
            <a:avLst/>
          </a:prstGeom>
        </p:spPr>
        <p:txBody>
          <a:bodyPr anchor="t" rtlCol="false" tIns="0" lIns="0" bIns="0" rIns="0">
            <a:spAutoFit/>
          </a:bodyPr>
          <a:lstStyle/>
          <a:p>
            <a:pPr algn="l">
              <a:lnSpc>
                <a:spcPts val="6304"/>
              </a:lnSpc>
            </a:pPr>
            <a:r>
              <a:rPr lang="en-US" sz="6499" spc="285" b="true">
                <a:solidFill>
                  <a:srgbClr val="007076"/>
                </a:solidFill>
                <a:latin typeface="Montserrat Semi-Bold Bold"/>
                <a:ea typeface="Montserrat Semi-Bold Bold"/>
                <a:cs typeface="Montserrat Semi-Bold Bold"/>
                <a:sym typeface="Montserrat Semi-Bold Bold"/>
              </a:rPr>
              <a:t>Classical Conditioning </a:t>
            </a:r>
          </a:p>
          <a:p>
            <a:pPr algn="l">
              <a:lnSpc>
                <a:spcPts val="6304"/>
              </a:lnSpc>
            </a:pPr>
            <a:r>
              <a:rPr lang="en-US" sz="6499" spc="285" b="true">
                <a:solidFill>
                  <a:srgbClr val="007076"/>
                </a:solidFill>
                <a:latin typeface="Montserrat Semi-Bold Bold"/>
                <a:ea typeface="Montserrat Semi-Bold Bold"/>
                <a:cs typeface="Montserrat Semi-Bold Bold"/>
                <a:sym typeface="Montserrat Semi-Bold Bold"/>
              </a:rPr>
              <a:t>- Pavlov</a:t>
            </a:r>
          </a:p>
          <a:p>
            <a:pPr algn="l">
              <a:lnSpc>
                <a:spcPts val="6304"/>
              </a:lnSpc>
            </a:pPr>
          </a:p>
        </p:txBody>
      </p:sp>
      <p:sp>
        <p:nvSpPr>
          <p:cNvPr name="TextBox 16" id="16"/>
          <p:cNvSpPr txBox="true"/>
          <p:nvPr/>
        </p:nvSpPr>
        <p:spPr>
          <a:xfrm rot="-5400000">
            <a:off x="-3565801" y="4400430"/>
            <a:ext cx="12480084" cy="1025525"/>
          </a:xfrm>
          <a:prstGeom prst="rect">
            <a:avLst/>
          </a:prstGeom>
        </p:spPr>
        <p:txBody>
          <a:bodyPr anchor="t" rtlCol="false" tIns="0" lIns="0" bIns="0" rIns="0">
            <a:spAutoFit/>
          </a:bodyPr>
          <a:lstStyle/>
          <a:p>
            <a:pPr algn="ctr">
              <a:lnSpc>
                <a:spcPts val="8049"/>
              </a:lnSpc>
            </a:pPr>
            <a:r>
              <a:rPr lang="en-US" sz="6999" spc="2645">
                <a:solidFill>
                  <a:srgbClr val="FFFFFF"/>
                </a:solidFill>
                <a:latin typeface="Anton"/>
                <a:ea typeface="Anton"/>
                <a:cs typeface="Anton"/>
                <a:sym typeface="Anton"/>
              </a:rPr>
              <a:t>BEHAVIORISM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9315330" y="4442354"/>
            <a:ext cx="3748209" cy="4114800"/>
          </a:xfrm>
          <a:custGeom>
            <a:avLst/>
            <a:gdLst/>
            <a:ahLst/>
            <a:cxnLst/>
            <a:rect r="r" b="b" t="t" l="l"/>
            <a:pathLst>
              <a:path h="4114800" w="3748209">
                <a:moveTo>
                  <a:pt x="0" y="0"/>
                </a:moveTo>
                <a:lnTo>
                  <a:pt x="3748209" y="0"/>
                </a:lnTo>
                <a:lnTo>
                  <a:pt x="37482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5265421" y="648513"/>
            <a:ext cx="12480084" cy="3023235"/>
          </a:xfrm>
          <a:prstGeom prst="rect">
            <a:avLst/>
          </a:prstGeom>
        </p:spPr>
        <p:txBody>
          <a:bodyPr anchor="t" rtlCol="false" tIns="0" lIns="0" bIns="0" rIns="0">
            <a:spAutoFit/>
          </a:bodyPr>
          <a:lstStyle/>
          <a:p>
            <a:pPr algn="l">
              <a:lnSpc>
                <a:spcPts val="7994"/>
              </a:lnSpc>
            </a:pPr>
            <a:r>
              <a:rPr lang="en-US" sz="6499" spc="285" b="true">
                <a:solidFill>
                  <a:srgbClr val="007076"/>
                </a:solidFill>
                <a:latin typeface="Montserrat Semi-Bold Bold"/>
                <a:ea typeface="Montserrat Semi-Bold Bold"/>
                <a:cs typeface="Montserrat Semi-Bold Bold"/>
                <a:sym typeface="Montserrat Semi-Bold Bold"/>
              </a:rPr>
              <a:t>Operant Conditioning </a:t>
            </a:r>
          </a:p>
          <a:p>
            <a:pPr algn="l">
              <a:lnSpc>
                <a:spcPts val="7994"/>
              </a:lnSpc>
            </a:pPr>
            <a:r>
              <a:rPr lang="en-US" sz="6499" spc="285" b="true">
                <a:solidFill>
                  <a:srgbClr val="007076"/>
                </a:solidFill>
                <a:latin typeface="Montserrat Semi-Bold Bold"/>
                <a:ea typeface="Montserrat Semi-Bold Bold"/>
                <a:cs typeface="Montserrat Semi-Bold Bold"/>
                <a:sym typeface="Montserrat Semi-Bold Bold"/>
              </a:rPr>
              <a:t>- Skinner</a:t>
            </a:r>
          </a:p>
          <a:p>
            <a:pPr algn="l">
              <a:lnSpc>
                <a:spcPts val="7994"/>
              </a:lnSpc>
            </a:pPr>
          </a:p>
        </p:txBody>
      </p:sp>
      <p:sp>
        <p:nvSpPr>
          <p:cNvPr name="TextBox 13" id="13"/>
          <p:cNvSpPr txBox="true"/>
          <p:nvPr/>
        </p:nvSpPr>
        <p:spPr>
          <a:xfrm rot="-5400000">
            <a:off x="-3565801" y="4400430"/>
            <a:ext cx="12480084" cy="1025525"/>
          </a:xfrm>
          <a:prstGeom prst="rect">
            <a:avLst/>
          </a:prstGeom>
        </p:spPr>
        <p:txBody>
          <a:bodyPr anchor="t" rtlCol="false" tIns="0" lIns="0" bIns="0" rIns="0">
            <a:spAutoFit/>
          </a:bodyPr>
          <a:lstStyle/>
          <a:p>
            <a:pPr algn="ctr">
              <a:lnSpc>
                <a:spcPts val="8049"/>
              </a:lnSpc>
            </a:pPr>
            <a:r>
              <a:rPr lang="en-US" sz="6999" spc="2645">
                <a:solidFill>
                  <a:srgbClr val="FFFFFF"/>
                </a:solidFill>
                <a:latin typeface="Anton"/>
                <a:ea typeface="Anton"/>
                <a:cs typeface="Anton"/>
                <a:sym typeface="Anton"/>
              </a:rPr>
              <a:t>BEHAVIORISM</a:t>
            </a:r>
          </a:p>
        </p:txBody>
      </p:sp>
      <p:sp>
        <p:nvSpPr>
          <p:cNvPr name="TextBox 14" id="14"/>
          <p:cNvSpPr txBox="true"/>
          <p:nvPr/>
        </p:nvSpPr>
        <p:spPr>
          <a:xfrm rot="0">
            <a:off x="5265421" y="3061656"/>
            <a:ext cx="11848027" cy="957580"/>
          </a:xfrm>
          <a:prstGeom prst="rect">
            <a:avLst/>
          </a:prstGeom>
        </p:spPr>
        <p:txBody>
          <a:bodyPr anchor="t" rtlCol="false" tIns="0" lIns="0" bIns="0" rIns="0">
            <a:spAutoFit/>
          </a:bodyPr>
          <a:lstStyle/>
          <a:p>
            <a:pPr algn="just">
              <a:lnSpc>
                <a:spcPts val="3709"/>
              </a:lnSpc>
            </a:pPr>
            <a:r>
              <a:rPr lang="en-US" sz="3499" spc="-94">
                <a:solidFill>
                  <a:srgbClr val="007076"/>
                </a:solidFill>
                <a:latin typeface="Montserrat"/>
                <a:ea typeface="Montserrat"/>
                <a:cs typeface="Montserrat"/>
                <a:sym typeface="Montserrat"/>
              </a:rPr>
              <a:t>The response is made first, </a:t>
            </a:r>
            <a:r>
              <a:rPr lang="en-US" sz="3499" spc="-94">
                <a:solidFill>
                  <a:srgbClr val="007076"/>
                </a:solidFill>
                <a:latin typeface="Montserrat"/>
                <a:ea typeface="Montserrat"/>
                <a:cs typeface="Montserrat"/>
                <a:sym typeface="Montserrat"/>
              </a:rPr>
              <a:t>then reinforcement follows.</a:t>
            </a:r>
          </a:p>
          <a:p>
            <a:pPr algn="just">
              <a:lnSpc>
                <a:spcPts val="370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4642393"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 BEHAVIORISM</a:t>
            </a:r>
          </a:p>
        </p:txBody>
      </p:sp>
      <p:sp>
        <p:nvSpPr>
          <p:cNvPr name="TextBox 9" id="9"/>
          <p:cNvSpPr txBox="true"/>
          <p:nvPr/>
        </p:nvSpPr>
        <p:spPr>
          <a:xfrm rot="0">
            <a:off x="1685988" y="1550161"/>
            <a:ext cx="15274306" cy="6792468"/>
          </a:xfrm>
          <a:prstGeom prst="rect">
            <a:avLst/>
          </a:prstGeom>
        </p:spPr>
        <p:txBody>
          <a:bodyPr anchor="t" rtlCol="false" tIns="0" lIns="0" bIns="0" rIns="0">
            <a:spAutoFit/>
          </a:bodyPr>
          <a:lstStyle/>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Learning is defined by the outward expression of new behaviors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Focuses solely on observable behaviors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A biological basis for learning </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Learning is context-independent</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Classical &amp; Operant Conditioning</a:t>
            </a:r>
          </a:p>
          <a:p>
            <a:pPr algn="just">
              <a:lnSpc>
                <a:spcPts val="6203"/>
              </a:lnSpc>
            </a:pPr>
            <a:r>
              <a:rPr lang="en-US" sz="3299" spc="290">
                <a:solidFill>
                  <a:srgbClr val="007076"/>
                </a:solidFill>
                <a:latin typeface="Montserrat"/>
                <a:ea typeface="Montserrat"/>
                <a:cs typeface="Montserrat"/>
                <a:sym typeface="Montserrat"/>
              </a:rPr>
              <a:t>              </a:t>
            </a:r>
            <a:r>
              <a:rPr lang="en-US" b="true" sz="3299" spc="290">
                <a:solidFill>
                  <a:srgbClr val="007076"/>
                </a:solidFill>
                <a:latin typeface="Montserrat Bold"/>
                <a:ea typeface="Montserrat Bold"/>
                <a:cs typeface="Montserrat Bold"/>
                <a:sym typeface="Montserrat Bold"/>
              </a:rPr>
              <a:t>–Reflexes (Pavlov’s Dogs)</a:t>
            </a:r>
          </a:p>
          <a:p>
            <a:pPr algn="just">
              <a:lnSpc>
                <a:spcPts val="6203"/>
              </a:lnSpc>
            </a:pPr>
            <a:r>
              <a:rPr lang="en-US" sz="3299" spc="290">
                <a:solidFill>
                  <a:srgbClr val="007076"/>
                </a:solidFill>
                <a:latin typeface="Montserrat"/>
                <a:ea typeface="Montserrat"/>
                <a:cs typeface="Montserrat"/>
                <a:sym typeface="Montserrat"/>
              </a:rPr>
              <a:t>              </a:t>
            </a:r>
            <a:r>
              <a:rPr lang="en-US" b="true" sz="3299" spc="290">
                <a:solidFill>
                  <a:srgbClr val="007076"/>
                </a:solidFill>
                <a:latin typeface="Montserrat Bold"/>
                <a:ea typeface="Montserrat Bold"/>
                <a:cs typeface="Montserrat Bold"/>
                <a:sym typeface="Montserrat Bold"/>
              </a:rPr>
              <a:t>–Feedback/Reinforcement (Skinner’s Pigeon Box)</a:t>
            </a:r>
          </a:p>
          <a:p>
            <a:pPr algn="just">
              <a:lnSpc>
                <a:spcPts val="3497"/>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1262686" y="2388979"/>
            <a:ext cx="5996614" cy="4947207"/>
          </a:xfrm>
          <a:custGeom>
            <a:avLst/>
            <a:gdLst/>
            <a:ahLst/>
            <a:cxnLst/>
            <a:rect r="r" b="b" t="t" l="l"/>
            <a:pathLst>
              <a:path h="4947207" w="5996614">
                <a:moveTo>
                  <a:pt x="0" y="0"/>
                </a:moveTo>
                <a:lnTo>
                  <a:pt x="5996614" y="0"/>
                </a:lnTo>
                <a:lnTo>
                  <a:pt x="5996614" y="4947207"/>
                </a:lnTo>
                <a:lnTo>
                  <a:pt x="0" y="49472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028700" y="1032510"/>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Behaviorism in the Classroom</a:t>
            </a:r>
          </a:p>
        </p:txBody>
      </p:sp>
      <p:sp>
        <p:nvSpPr>
          <p:cNvPr name="TextBox 12" id="12"/>
          <p:cNvSpPr txBox="true"/>
          <p:nvPr/>
        </p:nvSpPr>
        <p:spPr>
          <a:xfrm rot="0">
            <a:off x="1170787" y="2547904"/>
            <a:ext cx="9769247" cy="3556953"/>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Rewards and punishments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Responsibility for student learning rests squarely with the teacher</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Lecture-based, highly structured</a:t>
            </a:r>
          </a:p>
          <a:p>
            <a:pPr algn="l">
              <a:lnSpc>
                <a:spcPts val="3794"/>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8946085"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CRITIQUES OF BEHAVIORISM</a:t>
            </a:r>
          </a:p>
        </p:txBody>
      </p:sp>
      <p:sp>
        <p:nvSpPr>
          <p:cNvPr name="TextBox 9" id="9"/>
          <p:cNvSpPr txBox="true"/>
          <p:nvPr/>
        </p:nvSpPr>
        <p:spPr>
          <a:xfrm rot="0">
            <a:off x="1685988" y="1657754"/>
            <a:ext cx="15573312" cy="6011418"/>
          </a:xfrm>
          <a:prstGeom prst="rect">
            <a:avLst/>
          </a:prstGeom>
        </p:spPr>
        <p:txBody>
          <a:bodyPr anchor="t" rtlCol="false" tIns="0" lIns="0" bIns="0" rIns="0">
            <a:spAutoFit/>
          </a:bodyPr>
          <a:lstStyle/>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Does not account for processes taking place in the mind that cannot be observed</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Advocates for passive student learning in a teacher-centric environment</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One size fits all</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Knowledge itself is given and absolute</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Programmed instruction &amp; teacher-proofing</a:t>
            </a:r>
          </a:p>
          <a:p>
            <a:pPr algn="just">
              <a:lnSpc>
                <a:spcPts val="3497"/>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784918" y="2725656"/>
            <a:ext cx="3380865" cy="2673957"/>
          </a:xfrm>
          <a:custGeom>
            <a:avLst/>
            <a:gdLst/>
            <a:ahLst/>
            <a:cxnLst/>
            <a:rect r="r" b="b" t="t" l="l"/>
            <a:pathLst>
              <a:path h="2673957" w="3380865">
                <a:moveTo>
                  <a:pt x="0" y="0"/>
                </a:moveTo>
                <a:lnTo>
                  <a:pt x="3380865" y="0"/>
                </a:lnTo>
                <a:lnTo>
                  <a:pt x="3380865" y="2673958"/>
                </a:lnTo>
                <a:lnTo>
                  <a:pt x="0" y="26739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028700" y="1032510"/>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LEARNING THEORY</a:t>
            </a:r>
          </a:p>
        </p:txBody>
      </p:sp>
      <p:sp>
        <p:nvSpPr>
          <p:cNvPr name="TextBox 12" id="12"/>
          <p:cNvSpPr txBox="true"/>
          <p:nvPr/>
        </p:nvSpPr>
        <p:spPr>
          <a:xfrm rot="0">
            <a:off x="1540687" y="2726354"/>
            <a:ext cx="9769247" cy="2804478"/>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Behaviorism</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Cognitive Learning Theory</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Social Learning Theory</a:t>
            </a:r>
          </a:p>
          <a:p>
            <a:pPr algn="l">
              <a:lnSpc>
                <a:spcPts val="3794"/>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8946085"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COGNITIVISM</a:t>
            </a:r>
          </a:p>
        </p:txBody>
      </p:sp>
      <p:sp>
        <p:nvSpPr>
          <p:cNvPr name="TextBox 9" id="9"/>
          <p:cNvSpPr txBox="true"/>
          <p:nvPr/>
        </p:nvSpPr>
        <p:spPr>
          <a:xfrm rot="0">
            <a:off x="2055888" y="1765346"/>
            <a:ext cx="12216432" cy="5230368"/>
          </a:xfrm>
          <a:prstGeom prst="rect">
            <a:avLst/>
          </a:prstGeom>
        </p:spPr>
        <p:txBody>
          <a:bodyPr anchor="t" rtlCol="false" tIns="0" lIns="0" bIns="0" rIns="0">
            <a:spAutoFit/>
          </a:bodyPr>
          <a:lstStyle/>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Grew in response to Behaviorism</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Knowledge is stored cognitively as symbols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Learning is the process of connecting symbols in a meaningful &amp; memorable way</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Studies focused on the mental processes that facilitate symbol connection</a:t>
            </a:r>
          </a:p>
          <a:p>
            <a:pPr algn="just">
              <a:lnSpc>
                <a:spcPts val="3497"/>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222361" y="-215185"/>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13378320" y="2870915"/>
            <a:ext cx="3368993" cy="4114800"/>
          </a:xfrm>
          <a:custGeom>
            <a:avLst/>
            <a:gdLst/>
            <a:ahLst/>
            <a:cxnLst/>
            <a:rect r="r" b="b" t="t" l="l"/>
            <a:pathLst>
              <a:path h="4114800" w="3368993">
                <a:moveTo>
                  <a:pt x="0" y="0"/>
                </a:moveTo>
                <a:lnTo>
                  <a:pt x="3368993" y="0"/>
                </a:lnTo>
                <a:lnTo>
                  <a:pt x="3368993"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6058334" y="2626272"/>
            <a:ext cx="3847338" cy="4114800"/>
          </a:xfrm>
          <a:custGeom>
            <a:avLst/>
            <a:gdLst/>
            <a:ahLst/>
            <a:cxnLst/>
            <a:rect r="r" b="b" t="t" l="l"/>
            <a:pathLst>
              <a:path h="4114800" w="3847338">
                <a:moveTo>
                  <a:pt x="0" y="0"/>
                </a:moveTo>
                <a:lnTo>
                  <a:pt x="3847338" y="0"/>
                </a:lnTo>
                <a:lnTo>
                  <a:pt x="384733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402249" y="488253"/>
            <a:ext cx="4760655" cy="4945762"/>
          </a:xfrm>
          <a:prstGeom prst="rect">
            <a:avLst/>
          </a:prstGeom>
        </p:spPr>
        <p:txBody>
          <a:bodyPr anchor="t" rtlCol="false" tIns="0" lIns="0" bIns="0" rIns="0">
            <a:spAutoFit/>
          </a:bodyPr>
          <a:lstStyle/>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COGNITIVE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LEARNING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THEORY</a:t>
            </a:r>
          </a:p>
          <a:p>
            <a:pPr algn="l">
              <a:lnSpc>
                <a:spcPts val="9911"/>
              </a:lnSpc>
            </a:pPr>
          </a:p>
        </p:txBody>
      </p:sp>
      <p:sp>
        <p:nvSpPr>
          <p:cNvPr name="TextBox 14" id="14"/>
          <p:cNvSpPr txBox="true"/>
          <p:nvPr/>
        </p:nvSpPr>
        <p:spPr>
          <a:xfrm rot="0">
            <a:off x="5294285" y="1066800"/>
            <a:ext cx="11848027" cy="1424305"/>
          </a:xfrm>
          <a:prstGeom prst="rect">
            <a:avLst/>
          </a:prstGeom>
        </p:spPr>
        <p:txBody>
          <a:bodyPr anchor="t" rtlCol="false" tIns="0" lIns="0" bIns="0" rIns="0">
            <a:spAutoFit/>
          </a:bodyPr>
          <a:lstStyle/>
          <a:p>
            <a:pPr algn="just" marL="755647" indent="-377824" lvl="1">
              <a:lnSpc>
                <a:spcPts val="3709"/>
              </a:lnSpc>
              <a:buFont typeface="Arial"/>
              <a:buChar char="•"/>
            </a:pPr>
            <a:r>
              <a:rPr lang="en-US" sz="3499" spc="-94">
                <a:solidFill>
                  <a:srgbClr val="007076"/>
                </a:solidFill>
                <a:latin typeface="Montserrat"/>
                <a:ea typeface="Montserrat"/>
                <a:cs typeface="Montserrat"/>
                <a:sym typeface="Montserrat"/>
              </a:rPr>
              <a:t>Discovery Learning                   -            Jerome Bruner</a:t>
            </a:r>
          </a:p>
          <a:p>
            <a:pPr algn="just" marL="755647" indent="-377824" lvl="1">
              <a:lnSpc>
                <a:spcPts val="3709"/>
              </a:lnSpc>
              <a:buFont typeface="Arial"/>
              <a:buChar char="•"/>
            </a:pPr>
            <a:r>
              <a:rPr lang="en-US" sz="3499" spc="-94">
                <a:solidFill>
                  <a:srgbClr val="007076"/>
                </a:solidFill>
                <a:latin typeface="Montserrat"/>
                <a:ea typeface="Montserrat"/>
                <a:cs typeface="Montserrat"/>
                <a:sym typeface="Montserrat"/>
              </a:rPr>
              <a:t>Meaningful Verbal Learning  -           David Ausubel</a:t>
            </a:r>
          </a:p>
          <a:p>
            <a:pPr algn="just">
              <a:lnSpc>
                <a:spcPts val="3709"/>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222361" y="-215185"/>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6875255" y="4097468"/>
            <a:ext cx="2780656" cy="2780656"/>
          </a:xfrm>
          <a:custGeom>
            <a:avLst/>
            <a:gdLst/>
            <a:ahLst/>
            <a:cxnLst/>
            <a:rect r="r" b="b" t="t" l="l"/>
            <a:pathLst>
              <a:path h="2780656" w="2780656">
                <a:moveTo>
                  <a:pt x="0" y="0"/>
                </a:moveTo>
                <a:lnTo>
                  <a:pt x="2780656" y="0"/>
                </a:lnTo>
                <a:lnTo>
                  <a:pt x="2780656" y="2780655"/>
                </a:lnTo>
                <a:lnTo>
                  <a:pt x="0" y="27806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0444365" y="3430395"/>
            <a:ext cx="5432079" cy="4114800"/>
          </a:xfrm>
          <a:custGeom>
            <a:avLst/>
            <a:gdLst/>
            <a:ahLst/>
            <a:cxnLst/>
            <a:rect r="r" b="b" t="t" l="l"/>
            <a:pathLst>
              <a:path h="4114800" w="5432079">
                <a:moveTo>
                  <a:pt x="0" y="0"/>
                </a:moveTo>
                <a:lnTo>
                  <a:pt x="5432079" y="0"/>
                </a:lnTo>
                <a:lnTo>
                  <a:pt x="5432079"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312305" y="2317322"/>
            <a:ext cx="4760655" cy="4945762"/>
          </a:xfrm>
          <a:prstGeom prst="rect">
            <a:avLst/>
          </a:prstGeom>
        </p:spPr>
        <p:txBody>
          <a:bodyPr anchor="t" rtlCol="false" tIns="0" lIns="0" bIns="0" rIns="0">
            <a:spAutoFit/>
          </a:bodyPr>
          <a:lstStyle/>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COGNITIVE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LEARNING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THEORY</a:t>
            </a:r>
          </a:p>
          <a:p>
            <a:pPr algn="l">
              <a:lnSpc>
                <a:spcPts val="9911"/>
              </a:lnSpc>
            </a:pPr>
          </a:p>
        </p:txBody>
      </p:sp>
      <p:sp>
        <p:nvSpPr>
          <p:cNvPr name="TextBox 14" id="14"/>
          <p:cNvSpPr txBox="true"/>
          <p:nvPr/>
        </p:nvSpPr>
        <p:spPr>
          <a:xfrm rot="0">
            <a:off x="6551751" y="1773316"/>
            <a:ext cx="9324693" cy="1122374"/>
          </a:xfrm>
          <a:prstGeom prst="rect">
            <a:avLst/>
          </a:prstGeom>
        </p:spPr>
        <p:txBody>
          <a:bodyPr anchor="t" rtlCol="false" tIns="0" lIns="0" bIns="0" rIns="0">
            <a:spAutoFit/>
          </a:bodyPr>
          <a:lstStyle/>
          <a:p>
            <a:pPr algn="just">
              <a:lnSpc>
                <a:spcPts val="2919"/>
              </a:lnSpc>
            </a:pPr>
            <a:r>
              <a:rPr lang="en-US" sz="2754" spc="-74">
                <a:solidFill>
                  <a:srgbClr val="007076"/>
                </a:solidFill>
                <a:latin typeface="Montserrat"/>
                <a:ea typeface="Montserrat"/>
                <a:cs typeface="Montserrat"/>
                <a:sym typeface="Montserrat"/>
              </a:rPr>
              <a:t>-Bruner said anybody can learn anything at  any age, provided it is stated in terms  they can understand.</a:t>
            </a:r>
          </a:p>
          <a:p>
            <a:pPr algn="just">
              <a:lnSpc>
                <a:spcPts val="2919"/>
              </a:lnSpc>
            </a:pPr>
          </a:p>
        </p:txBody>
      </p:sp>
      <p:sp>
        <p:nvSpPr>
          <p:cNvPr name="TextBox 15" id="15"/>
          <p:cNvSpPr txBox="true"/>
          <p:nvPr/>
        </p:nvSpPr>
        <p:spPr>
          <a:xfrm rot="0">
            <a:off x="5695448" y="322910"/>
            <a:ext cx="11421765" cy="4878862"/>
          </a:xfrm>
          <a:prstGeom prst="rect">
            <a:avLst/>
          </a:prstGeom>
        </p:spPr>
        <p:txBody>
          <a:bodyPr anchor="t" rtlCol="false" tIns="0" lIns="0" bIns="0" rIns="0">
            <a:spAutoFit/>
          </a:bodyPr>
          <a:lstStyle/>
          <a:p>
            <a:pPr algn="l">
              <a:lnSpc>
                <a:spcPts val="9790"/>
              </a:lnSpc>
            </a:pPr>
            <a:r>
              <a:rPr lang="en-US" b="true" sz="5827" spc="256">
                <a:solidFill>
                  <a:srgbClr val="007076"/>
                </a:solidFill>
                <a:latin typeface="Montserrat Semi-Bold Bold"/>
                <a:ea typeface="Montserrat Semi-Bold Bold"/>
                <a:cs typeface="Montserrat Semi-Bold Bold"/>
                <a:sym typeface="Montserrat Semi-Bold Bold"/>
              </a:rPr>
              <a:t>DISCOVERY LEARNING </a:t>
            </a:r>
          </a:p>
          <a:p>
            <a:pPr algn="l">
              <a:lnSpc>
                <a:spcPts val="9790"/>
              </a:lnSpc>
            </a:pPr>
          </a:p>
          <a:p>
            <a:pPr algn="l">
              <a:lnSpc>
                <a:spcPts val="9790"/>
              </a:lnSpc>
            </a:pPr>
          </a:p>
          <a:p>
            <a:pPr algn="l">
              <a:lnSpc>
                <a:spcPts val="9790"/>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222361" y="-215185"/>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TextBox 11" id="11"/>
          <p:cNvSpPr txBox="true"/>
          <p:nvPr/>
        </p:nvSpPr>
        <p:spPr>
          <a:xfrm rot="0">
            <a:off x="312305" y="2317322"/>
            <a:ext cx="4760655" cy="4945762"/>
          </a:xfrm>
          <a:prstGeom prst="rect">
            <a:avLst/>
          </a:prstGeom>
        </p:spPr>
        <p:txBody>
          <a:bodyPr anchor="t" rtlCol="false" tIns="0" lIns="0" bIns="0" rIns="0">
            <a:spAutoFit/>
          </a:bodyPr>
          <a:lstStyle/>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COGNITIVE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LEARNING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THEORY</a:t>
            </a:r>
          </a:p>
          <a:p>
            <a:pPr algn="l">
              <a:lnSpc>
                <a:spcPts val="9911"/>
              </a:lnSpc>
            </a:pPr>
          </a:p>
        </p:txBody>
      </p:sp>
      <p:sp>
        <p:nvSpPr>
          <p:cNvPr name="TextBox 12" id="12"/>
          <p:cNvSpPr txBox="true"/>
          <p:nvPr/>
        </p:nvSpPr>
        <p:spPr>
          <a:xfrm rot="0">
            <a:off x="5553360" y="2052688"/>
            <a:ext cx="11705940" cy="6761812"/>
          </a:xfrm>
          <a:prstGeom prst="rect">
            <a:avLst/>
          </a:prstGeom>
        </p:spPr>
        <p:txBody>
          <a:bodyPr anchor="t" rtlCol="false" tIns="0" lIns="0" bIns="0" rIns="0">
            <a:spAutoFit/>
          </a:bodyPr>
          <a:lstStyle/>
          <a:p>
            <a:pPr algn="just">
              <a:lnSpc>
                <a:spcPts val="7245"/>
              </a:lnSpc>
            </a:pPr>
            <a:r>
              <a:rPr lang="en-US" sz="3354" spc="-90">
                <a:solidFill>
                  <a:srgbClr val="007076"/>
                </a:solidFill>
                <a:latin typeface="Montserrat"/>
                <a:ea typeface="Montserrat"/>
                <a:cs typeface="Montserrat"/>
                <a:sym typeface="Montserrat"/>
              </a:rPr>
              <a:t>2. Powerful Concepts (not isolated facts) </a:t>
            </a:r>
          </a:p>
          <a:p>
            <a:pPr algn="just" marL="724250" indent="-362125" lvl="1">
              <a:lnSpc>
                <a:spcPts val="7245"/>
              </a:lnSpc>
              <a:buFont typeface="Arial"/>
              <a:buChar char="•"/>
            </a:pPr>
            <a:r>
              <a:rPr lang="en-US" sz="3354" spc="-90">
                <a:solidFill>
                  <a:srgbClr val="007076"/>
                </a:solidFill>
                <a:latin typeface="Montserrat"/>
                <a:ea typeface="Montserrat"/>
                <a:cs typeface="Montserrat"/>
                <a:sym typeface="Montserrat"/>
              </a:rPr>
              <a:t> Transfer to many different situations</a:t>
            </a:r>
          </a:p>
          <a:p>
            <a:pPr algn="just" marL="724250" indent="-362125" lvl="1">
              <a:lnSpc>
                <a:spcPts val="7245"/>
              </a:lnSpc>
              <a:buFont typeface="Arial"/>
              <a:buChar char="•"/>
            </a:pPr>
            <a:r>
              <a:rPr lang="en-US" sz="3354" spc="-90">
                <a:solidFill>
                  <a:srgbClr val="007076"/>
                </a:solidFill>
                <a:latin typeface="Montserrat"/>
                <a:ea typeface="Montserrat"/>
                <a:cs typeface="Montserrat"/>
                <a:sym typeface="Montserrat"/>
              </a:rPr>
              <a:t>Only possible through Discovery Learning</a:t>
            </a:r>
          </a:p>
          <a:p>
            <a:pPr algn="just" marL="724250" indent="-362125" lvl="1">
              <a:lnSpc>
                <a:spcPts val="7245"/>
              </a:lnSpc>
              <a:buFont typeface="Arial"/>
              <a:buChar char="•"/>
            </a:pPr>
            <a:r>
              <a:rPr lang="en-US" sz="3354" spc="-90">
                <a:solidFill>
                  <a:srgbClr val="007076"/>
                </a:solidFill>
                <a:latin typeface="Montserrat"/>
                <a:ea typeface="Montserrat"/>
                <a:cs typeface="Montserrat"/>
                <a:sym typeface="Montserrat"/>
              </a:rPr>
              <a:t>Confront the learner with problems and help  them find solutions. Do not present  sequenced materials.</a:t>
            </a:r>
          </a:p>
          <a:p>
            <a:pPr algn="just">
              <a:lnSpc>
                <a:spcPts val="5949"/>
              </a:lnSpc>
            </a:pPr>
          </a:p>
          <a:p>
            <a:pPr algn="just">
              <a:lnSpc>
                <a:spcPts val="5949"/>
              </a:lnSpc>
            </a:pPr>
          </a:p>
          <a:p>
            <a:pPr algn="just">
              <a:lnSpc>
                <a:spcPts val="5949"/>
              </a:lnSpc>
            </a:pPr>
          </a:p>
        </p:txBody>
      </p:sp>
      <p:sp>
        <p:nvSpPr>
          <p:cNvPr name="TextBox 13" id="13"/>
          <p:cNvSpPr txBox="true"/>
          <p:nvPr/>
        </p:nvSpPr>
        <p:spPr>
          <a:xfrm rot="0">
            <a:off x="5553360" y="525705"/>
            <a:ext cx="11421765" cy="1153308"/>
          </a:xfrm>
          <a:prstGeom prst="rect">
            <a:avLst/>
          </a:prstGeom>
        </p:spPr>
        <p:txBody>
          <a:bodyPr anchor="t" rtlCol="false" tIns="0" lIns="0" bIns="0" rIns="0">
            <a:spAutoFit/>
          </a:bodyPr>
          <a:lstStyle/>
          <a:p>
            <a:pPr algn="l">
              <a:lnSpc>
                <a:spcPts val="9790"/>
              </a:lnSpc>
            </a:pPr>
            <a:r>
              <a:rPr lang="en-US" b="true" sz="5827" spc="256">
                <a:solidFill>
                  <a:srgbClr val="007076"/>
                </a:solidFill>
                <a:latin typeface="Montserrat Semi-Bold Bold"/>
                <a:ea typeface="Montserrat Semi-Bold Bold"/>
                <a:cs typeface="Montserrat Semi-Bold Bold"/>
                <a:sym typeface="Montserrat Semi-Bold Bold"/>
              </a:rPr>
              <a:t>DISCOVERY LEARNING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222361" y="-215185"/>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14953402" y="6149414"/>
            <a:ext cx="2563848" cy="2553593"/>
          </a:xfrm>
          <a:custGeom>
            <a:avLst/>
            <a:gdLst/>
            <a:ahLst/>
            <a:cxnLst/>
            <a:rect r="r" b="b" t="t" l="l"/>
            <a:pathLst>
              <a:path h="2553593" w="2563848">
                <a:moveTo>
                  <a:pt x="0" y="0"/>
                </a:moveTo>
                <a:lnTo>
                  <a:pt x="2563848" y="0"/>
                </a:lnTo>
                <a:lnTo>
                  <a:pt x="2563848" y="2553592"/>
                </a:lnTo>
                <a:lnTo>
                  <a:pt x="0" y="2553592"/>
                </a:lnTo>
                <a:lnTo>
                  <a:pt x="0" y="0"/>
                </a:lnTo>
                <a:close/>
              </a:path>
            </a:pathLst>
          </a:custGeom>
          <a:blipFill>
            <a:blip r:embed="rId9"/>
            <a:stretch>
              <a:fillRect l="0" t="0" r="0" b="0"/>
            </a:stretch>
          </a:blipFill>
        </p:spPr>
      </p:sp>
      <p:sp>
        <p:nvSpPr>
          <p:cNvPr name="TextBox 12" id="12"/>
          <p:cNvSpPr txBox="true"/>
          <p:nvPr/>
        </p:nvSpPr>
        <p:spPr>
          <a:xfrm rot="0">
            <a:off x="312305" y="2317322"/>
            <a:ext cx="4760655" cy="4945762"/>
          </a:xfrm>
          <a:prstGeom prst="rect">
            <a:avLst/>
          </a:prstGeom>
        </p:spPr>
        <p:txBody>
          <a:bodyPr anchor="t" rtlCol="false" tIns="0" lIns="0" bIns="0" rIns="0">
            <a:spAutoFit/>
          </a:bodyPr>
          <a:lstStyle/>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COGNITIVE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LEARNING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THEORY</a:t>
            </a:r>
          </a:p>
          <a:p>
            <a:pPr algn="l">
              <a:lnSpc>
                <a:spcPts val="9911"/>
              </a:lnSpc>
            </a:pPr>
          </a:p>
        </p:txBody>
      </p:sp>
      <p:sp>
        <p:nvSpPr>
          <p:cNvPr name="TextBox 13" id="13"/>
          <p:cNvSpPr txBox="true"/>
          <p:nvPr/>
        </p:nvSpPr>
        <p:spPr>
          <a:xfrm rot="0">
            <a:off x="5553360" y="2052688"/>
            <a:ext cx="11705940" cy="5847412"/>
          </a:xfrm>
          <a:prstGeom prst="rect">
            <a:avLst/>
          </a:prstGeom>
        </p:spPr>
        <p:txBody>
          <a:bodyPr anchor="t" rtlCol="false" tIns="0" lIns="0" bIns="0" rIns="0">
            <a:spAutoFit/>
          </a:bodyPr>
          <a:lstStyle/>
          <a:p>
            <a:pPr algn="just">
              <a:lnSpc>
                <a:spcPts val="7245"/>
              </a:lnSpc>
            </a:pPr>
            <a:r>
              <a:rPr lang="en-US" sz="3354" spc="-90">
                <a:solidFill>
                  <a:srgbClr val="007076"/>
                </a:solidFill>
                <a:latin typeface="Montserrat"/>
                <a:ea typeface="Montserrat"/>
                <a:cs typeface="Montserrat"/>
                <a:sym typeface="Montserrat"/>
              </a:rPr>
              <a:t>Advance Organizers: </a:t>
            </a:r>
          </a:p>
          <a:p>
            <a:pPr algn="just" marL="724250" indent="-362125" lvl="1">
              <a:lnSpc>
                <a:spcPts val="7245"/>
              </a:lnSpc>
              <a:buFont typeface="Arial"/>
              <a:buChar char="•"/>
            </a:pPr>
            <a:r>
              <a:rPr lang="en-US" sz="3354" spc="-90">
                <a:solidFill>
                  <a:srgbClr val="007076"/>
                </a:solidFill>
                <a:latin typeface="Montserrat"/>
                <a:ea typeface="Montserrat"/>
                <a:cs typeface="Montserrat"/>
                <a:sym typeface="Montserrat"/>
              </a:rPr>
              <a:t>New material is presented in a systematic way, and is connected to existing cognitive structures in a meaningful way.</a:t>
            </a:r>
          </a:p>
          <a:p>
            <a:pPr algn="just">
              <a:lnSpc>
                <a:spcPts val="5949"/>
              </a:lnSpc>
            </a:pPr>
          </a:p>
          <a:p>
            <a:pPr algn="just">
              <a:lnSpc>
                <a:spcPts val="5949"/>
              </a:lnSpc>
            </a:pPr>
          </a:p>
          <a:p>
            <a:pPr algn="just">
              <a:lnSpc>
                <a:spcPts val="5949"/>
              </a:lnSpc>
            </a:pPr>
          </a:p>
        </p:txBody>
      </p:sp>
      <p:sp>
        <p:nvSpPr>
          <p:cNvPr name="TextBox 14" id="14"/>
          <p:cNvSpPr txBox="true"/>
          <p:nvPr/>
        </p:nvSpPr>
        <p:spPr>
          <a:xfrm rot="0">
            <a:off x="5553360" y="573330"/>
            <a:ext cx="12002763" cy="966444"/>
          </a:xfrm>
          <a:prstGeom prst="rect">
            <a:avLst/>
          </a:prstGeom>
        </p:spPr>
        <p:txBody>
          <a:bodyPr anchor="t" rtlCol="false" tIns="0" lIns="0" bIns="0" rIns="0">
            <a:spAutoFit/>
          </a:bodyPr>
          <a:lstStyle/>
          <a:p>
            <a:pPr algn="l">
              <a:lnSpc>
                <a:spcPts val="8278"/>
              </a:lnSpc>
            </a:pPr>
            <a:r>
              <a:rPr lang="en-US" b="true" sz="4927" spc="216">
                <a:solidFill>
                  <a:srgbClr val="007076"/>
                </a:solidFill>
                <a:latin typeface="Montserrat Semi-Bold Bold"/>
                <a:ea typeface="Montserrat Semi-Bold Bold"/>
                <a:cs typeface="Montserrat Semi-Bold Bold"/>
                <a:sym typeface="Montserrat Semi-Bold Bold"/>
              </a:rPr>
              <a:t>MEANINGFUL VERBAL LEARNING</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222361" y="-215185"/>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162904" y="393219"/>
            <a:ext cx="12582600" cy="8580906"/>
            <a:chOff x="0" y="0"/>
            <a:chExt cx="20048419" cy="13672341"/>
          </a:xfrm>
        </p:grpSpPr>
        <p:sp>
          <p:nvSpPr>
            <p:cNvPr name="Freeform 10" id="10"/>
            <p:cNvSpPr/>
            <p:nvPr/>
          </p:nvSpPr>
          <p:spPr>
            <a:xfrm flipH="false" flipV="false" rot="0">
              <a:off x="0" y="0"/>
              <a:ext cx="20048418" cy="13672341"/>
            </a:xfrm>
            <a:custGeom>
              <a:avLst/>
              <a:gdLst/>
              <a:ahLst/>
              <a:cxnLst/>
              <a:rect r="r" b="b" t="t" l="l"/>
              <a:pathLst>
                <a:path h="13672341" w="20048418">
                  <a:moveTo>
                    <a:pt x="0" y="0"/>
                  </a:moveTo>
                  <a:lnTo>
                    <a:pt x="0" y="13672341"/>
                  </a:lnTo>
                  <a:lnTo>
                    <a:pt x="20048418" y="13672341"/>
                  </a:lnTo>
                  <a:lnTo>
                    <a:pt x="20048418" y="0"/>
                  </a:lnTo>
                  <a:lnTo>
                    <a:pt x="0" y="0"/>
                  </a:lnTo>
                  <a:close/>
                  <a:moveTo>
                    <a:pt x="19987459" y="13611380"/>
                  </a:moveTo>
                  <a:lnTo>
                    <a:pt x="59690" y="13611380"/>
                  </a:lnTo>
                  <a:lnTo>
                    <a:pt x="59690" y="59690"/>
                  </a:lnTo>
                  <a:lnTo>
                    <a:pt x="19987459" y="59690"/>
                  </a:lnTo>
                  <a:lnTo>
                    <a:pt x="19987459" y="13611380"/>
                  </a:lnTo>
                  <a:close/>
                </a:path>
              </a:pathLst>
            </a:custGeom>
            <a:solidFill>
              <a:srgbClr val="00B2BD"/>
            </a:solidFill>
          </p:spPr>
        </p:sp>
      </p:grpSp>
      <p:sp>
        <p:nvSpPr>
          <p:cNvPr name="Freeform 11" id="11"/>
          <p:cNvSpPr/>
          <p:nvPr/>
        </p:nvSpPr>
        <p:spPr>
          <a:xfrm flipH="false" flipV="false" rot="0">
            <a:off x="14953402" y="6149414"/>
            <a:ext cx="2563848" cy="2553593"/>
          </a:xfrm>
          <a:custGeom>
            <a:avLst/>
            <a:gdLst/>
            <a:ahLst/>
            <a:cxnLst/>
            <a:rect r="r" b="b" t="t" l="l"/>
            <a:pathLst>
              <a:path h="2553593" w="2563848">
                <a:moveTo>
                  <a:pt x="0" y="0"/>
                </a:moveTo>
                <a:lnTo>
                  <a:pt x="2563848" y="0"/>
                </a:lnTo>
                <a:lnTo>
                  <a:pt x="2563848" y="2553592"/>
                </a:lnTo>
                <a:lnTo>
                  <a:pt x="0" y="2553592"/>
                </a:lnTo>
                <a:lnTo>
                  <a:pt x="0" y="0"/>
                </a:lnTo>
                <a:close/>
              </a:path>
            </a:pathLst>
          </a:custGeom>
          <a:blipFill>
            <a:blip r:embed="rId9"/>
            <a:stretch>
              <a:fillRect l="0" t="0" r="0" b="0"/>
            </a:stretch>
          </a:blipFill>
        </p:spPr>
      </p:sp>
      <p:sp>
        <p:nvSpPr>
          <p:cNvPr name="TextBox 12" id="12"/>
          <p:cNvSpPr txBox="true"/>
          <p:nvPr/>
        </p:nvSpPr>
        <p:spPr>
          <a:xfrm rot="0">
            <a:off x="312305" y="2317322"/>
            <a:ext cx="4760655" cy="4945762"/>
          </a:xfrm>
          <a:prstGeom prst="rect">
            <a:avLst/>
          </a:prstGeom>
        </p:spPr>
        <p:txBody>
          <a:bodyPr anchor="t" rtlCol="false" tIns="0" lIns="0" bIns="0" rIns="0">
            <a:spAutoFit/>
          </a:bodyPr>
          <a:lstStyle/>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COGNITIVE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LEARNING </a:t>
            </a:r>
          </a:p>
          <a:p>
            <a:pPr algn="l">
              <a:lnSpc>
                <a:spcPts val="9911"/>
              </a:lnSpc>
            </a:pPr>
            <a:r>
              <a:rPr lang="en-US" b="true" sz="5899" spc="259">
                <a:solidFill>
                  <a:srgbClr val="FFFFFF"/>
                </a:solidFill>
                <a:latin typeface="Montserrat Semi-Bold Bold"/>
                <a:ea typeface="Montserrat Semi-Bold Bold"/>
                <a:cs typeface="Montserrat Semi-Bold Bold"/>
                <a:sym typeface="Montserrat Semi-Bold Bold"/>
              </a:rPr>
              <a:t>THEORY</a:t>
            </a:r>
          </a:p>
          <a:p>
            <a:pPr algn="l">
              <a:lnSpc>
                <a:spcPts val="9911"/>
              </a:lnSpc>
            </a:pPr>
          </a:p>
        </p:txBody>
      </p:sp>
      <p:sp>
        <p:nvSpPr>
          <p:cNvPr name="TextBox 13" id="13"/>
          <p:cNvSpPr txBox="true"/>
          <p:nvPr/>
        </p:nvSpPr>
        <p:spPr>
          <a:xfrm rot="0">
            <a:off x="5553360" y="2052688"/>
            <a:ext cx="11705940" cy="5847412"/>
          </a:xfrm>
          <a:prstGeom prst="rect">
            <a:avLst/>
          </a:prstGeom>
        </p:spPr>
        <p:txBody>
          <a:bodyPr anchor="t" rtlCol="false" tIns="0" lIns="0" bIns="0" rIns="0">
            <a:spAutoFit/>
          </a:bodyPr>
          <a:lstStyle/>
          <a:p>
            <a:pPr algn="just">
              <a:lnSpc>
                <a:spcPts val="7245"/>
              </a:lnSpc>
            </a:pPr>
            <a:r>
              <a:rPr lang="en-US" sz="3354" spc="-90">
                <a:solidFill>
                  <a:srgbClr val="007076"/>
                </a:solidFill>
                <a:latin typeface="Montserrat"/>
                <a:ea typeface="Montserrat"/>
                <a:cs typeface="Montserrat"/>
                <a:sym typeface="Montserrat"/>
              </a:rPr>
              <a:t>Advance Organizers: </a:t>
            </a:r>
          </a:p>
          <a:p>
            <a:pPr algn="just" marL="724250" indent="-362125" lvl="1">
              <a:lnSpc>
                <a:spcPts val="7245"/>
              </a:lnSpc>
              <a:buFont typeface="Arial"/>
              <a:buChar char="•"/>
            </a:pPr>
            <a:r>
              <a:rPr lang="en-US" sz="3354" spc="-90">
                <a:solidFill>
                  <a:srgbClr val="007076"/>
                </a:solidFill>
                <a:latin typeface="Montserrat"/>
                <a:ea typeface="Montserrat"/>
                <a:cs typeface="Montserrat"/>
                <a:sym typeface="Montserrat"/>
              </a:rPr>
              <a:t>When learners have difficulty with new material, go back to the concrete anchors (Advance Organizers). Provide a Discovery approach, and they’ll learn.</a:t>
            </a:r>
          </a:p>
          <a:p>
            <a:pPr algn="just">
              <a:lnSpc>
                <a:spcPts val="5949"/>
              </a:lnSpc>
            </a:pPr>
          </a:p>
          <a:p>
            <a:pPr algn="just">
              <a:lnSpc>
                <a:spcPts val="5949"/>
              </a:lnSpc>
            </a:pPr>
          </a:p>
          <a:p>
            <a:pPr algn="just">
              <a:lnSpc>
                <a:spcPts val="5949"/>
              </a:lnSpc>
            </a:pPr>
          </a:p>
        </p:txBody>
      </p:sp>
      <p:sp>
        <p:nvSpPr>
          <p:cNvPr name="TextBox 14" id="14"/>
          <p:cNvSpPr txBox="true"/>
          <p:nvPr/>
        </p:nvSpPr>
        <p:spPr>
          <a:xfrm rot="0">
            <a:off x="5553360" y="573330"/>
            <a:ext cx="12002763" cy="966444"/>
          </a:xfrm>
          <a:prstGeom prst="rect">
            <a:avLst/>
          </a:prstGeom>
        </p:spPr>
        <p:txBody>
          <a:bodyPr anchor="t" rtlCol="false" tIns="0" lIns="0" bIns="0" rIns="0">
            <a:spAutoFit/>
          </a:bodyPr>
          <a:lstStyle/>
          <a:p>
            <a:pPr algn="l">
              <a:lnSpc>
                <a:spcPts val="8278"/>
              </a:lnSpc>
            </a:pPr>
            <a:r>
              <a:rPr lang="en-US" b="true" sz="4927" spc="216">
                <a:solidFill>
                  <a:srgbClr val="007076"/>
                </a:solidFill>
                <a:latin typeface="Montserrat Semi-Bold Bold"/>
                <a:ea typeface="Montserrat Semi-Bold Bold"/>
                <a:cs typeface="Montserrat Semi-Bold Bold"/>
                <a:sym typeface="Montserrat Semi-Bold Bold"/>
              </a:rPr>
              <a:t>MEANINGFUL VERBAL LEARNING</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2677446" y="6810034"/>
            <a:ext cx="1340020" cy="2930045"/>
          </a:xfrm>
          <a:custGeom>
            <a:avLst/>
            <a:gdLst/>
            <a:ahLst/>
            <a:cxnLst/>
            <a:rect r="r" b="b" t="t" l="l"/>
            <a:pathLst>
              <a:path h="2930045" w="1340020">
                <a:moveTo>
                  <a:pt x="0" y="0"/>
                </a:moveTo>
                <a:lnTo>
                  <a:pt x="1340021" y="0"/>
                </a:lnTo>
                <a:lnTo>
                  <a:pt x="1340021" y="2930044"/>
                </a:lnTo>
                <a:lnTo>
                  <a:pt x="0" y="29300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540687" y="2726354"/>
            <a:ext cx="9769247" cy="4309428"/>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Inquiry-oriented projects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Opportunities for the testing of hypotheses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Curiosity encouraged</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Staged scaffolding</a:t>
            </a:r>
          </a:p>
          <a:p>
            <a:pPr algn="l">
              <a:lnSpc>
                <a:spcPts val="3794"/>
              </a:lnSpc>
              <a:spcBef>
                <a:spcPct val="0"/>
              </a:spcBef>
            </a:pPr>
          </a:p>
        </p:txBody>
      </p:sp>
      <p:sp>
        <p:nvSpPr>
          <p:cNvPr name="TextBox 12" id="12"/>
          <p:cNvSpPr txBox="true"/>
          <p:nvPr/>
        </p:nvSpPr>
        <p:spPr>
          <a:xfrm rot="0">
            <a:off x="1028700" y="1032510"/>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Cognitivism in the Classroom</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398600" y="2526823"/>
            <a:ext cx="11598316" cy="5061903"/>
          </a:xfrm>
          <a:prstGeom prst="rect">
            <a:avLst/>
          </a:prstGeom>
        </p:spPr>
        <p:txBody>
          <a:bodyPr anchor="t" rtlCol="false" tIns="0" lIns="0" bIns="0" rIns="0">
            <a:spAutoFit/>
          </a:bodyPr>
          <a:lstStyle/>
          <a:p>
            <a:pPr algn="just" marL="755646" indent="-377823" lvl="1">
              <a:lnSpc>
                <a:spcPts val="5949"/>
              </a:lnSpc>
              <a:buFont typeface="Arial"/>
              <a:buChar char="•"/>
            </a:pPr>
            <a:r>
              <a:rPr lang="en-US" sz="3499" spc="136">
                <a:solidFill>
                  <a:srgbClr val="007076"/>
                </a:solidFill>
                <a:latin typeface="Montserrat"/>
                <a:ea typeface="Montserrat"/>
                <a:cs typeface="Montserrat"/>
                <a:sym typeface="Montserrat"/>
              </a:rPr>
              <a:t>Like Behaviorism, knowledge itself is given and absolute </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Input – Process – Output model is mechanistic and deterministic</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Does not account enough for individuality</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Little emphasis on affective characteristics</a:t>
            </a:r>
          </a:p>
          <a:p>
            <a:pPr algn="l">
              <a:lnSpc>
                <a:spcPts val="3794"/>
              </a:lnSpc>
              <a:spcBef>
                <a:spcPct val="0"/>
              </a:spcBef>
            </a:pPr>
          </a:p>
        </p:txBody>
      </p:sp>
      <p:sp>
        <p:nvSpPr>
          <p:cNvPr name="TextBox 11" id="11"/>
          <p:cNvSpPr txBox="true"/>
          <p:nvPr/>
        </p:nvSpPr>
        <p:spPr>
          <a:xfrm rot="0">
            <a:off x="1028700" y="1032510"/>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CRITIQUES OF COGNITIVISM</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398600" y="2526823"/>
            <a:ext cx="11598316" cy="5061903"/>
          </a:xfrm>
          <a:prstGeom prst="rect">
            <a:avLst/>
          </a:prstGeom>
        </p:spPr>
        <p:txBody>
          <a:bodyPr anchor="t" rtlCol="false" tIns="0" lIns="0" bIns="0" rIns="0">
            <a:spAutoFit/>
          </a:bodyPr>
          <a:lstStyle/>
          <a:p>
            <a:pPr algn="just" marL="755646" indent="-377823" lvl="1">
              <a:lnSpc>
                <a:spcPts val="5949"/>
              </a:lnSpc>
              <a:buFont typeface="Arial"/>
              <a:buChar char="•"/>
            </a:pPr>
            <a:r>
              <a:rPr lang="en-US" sz="3499" spc="136">
                <a:solidFill>
                  <a:srgbClr val="007076"/>
                </a:solidFill>
                <a:latin typeface="Montserrat"/>
                <a:ea typeface="Montserrat"/>
                <a:cs typeface="Montserrat"/>
                <a:sym typeface="Montserrat"/>
              </a:rPr>
              <a:t>Like Behaviorism, knowledge itself is given and absolute </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Input – Process – Output model is mechanistic and deterministic</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Does not account enough for individuality</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Little emphasis on affective characteristics</a:t>
            </a:r>
          </a:p>
          <a:p>
            <a:pPr algn="l">
              <a:lnSpc>
                <a:spcPts val="3794"/>
              </a:lnSpc>
              <a:spcBef>
                <a:spcPct val="0"/>
              </a:spcBef>
            </a:pPr>
          </a:p>
        </p:txBody>
      </p:sp>
      <p:sp>
        <p:nvSpPr>
          <p:cNvPr name="TextBox 11" id="11"/>
          <p:cNvSpPr txBox="true"/>
          <p:nvPr/>
        </p:nvSpPr>
        <p:spPr>
          <a:xfrm rot="0">
            <a:off x="1028700" y="1032510"/>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LEARNING THEORY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75681" y="2082139"/>
            <a:ext cx="6129724" cy="6122721"/>
            <a:chOff x="0" y="0"/>
            <a:chExt cx="8172966" cy="8163628"/>
          </a:xfrm>
        </p:grpSpPr>
        <p:pic>
          <p:nvPicPr>
            <p:cNvPr name="Picture 7" id="7"/>
            <p:cNvPicPr>
              <a:picLocks noChangeAspect="true"/>
            </p:cNvPicPr>
            <p:nvPr/>
          </p:nvPicPr>
          <p:blipFill>
            <a:blip r:embed="rId3"/>
            <a:srcRect l="27036" t="0" r="27036" b="0"/>
            <a:stretch>
              <a:fillRect/>
            </a:stretch>
          </p:blipFill>
          <p:spPr>
            <a:xfrm flipH="false" flipV="false">
              <a:off x="0" y="0"/>
              <a:ext cx="8172966" cy="8163628"/>
            </a:xfrm>
            <a:prstGeom prst="rect">
              <a:avLst/>
            </a:prstGeom>
          </p:spPr>
        </p:pic>
      </p:grpSp>
      <p:sp>
        <p:nvSpPr>
          <p:cNvPr name="Freeform 8" id="8"/>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2700000">
            <a:off x="7278105" y="4560546"/>
            <a:ext cx="16683427" cy="7187469"/>
            <a:chOff x="0" y="0"/>
            <a:chExt cx="4393989" cy="1892996"/>
          </a:xfrm>
        </p:grpSpPr>
        <p:sp>
          <p:nvSpPr>
            <p:cNvPr name="Freeform 10" id="10"/>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1" id="11"/>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8131309" y="2082139"/>
            <a:ext cx="9127991" cy="6122721"/>
            <a:chOff x="0" y="0"/>
            <a:chExt cx="14544035" cy="9755605"/>
          </a:xfrm>
        </p:grpSpPr>
        <p:sp>
          <p:nvSpPr>
            <p:cNvPr name="Freeform 16" id="16"/>
            <p:cNvSpPr/>
            <p:nvPr/>
          </p:nvSpPr>
          <p:spPr>
            <a:xfrm flipH="false" flipV="false" rot="0">
              <a:off x="0" y="0"/>
              <a:ext cx="14544035" cy="9755605"/>
            </a:xfrm>
            <a:custGeom>
              <a:avLst/>
              <a:gdLst/>
              <a:ahLst/>
              <a:cxnLst/>
              <a:rect r="r" b="b" t="t" l="l"/>
              <a:pathLst>
                <a:path h="9755605" w="1454403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solidFill>
              <a:srgbClr val="00B2BD"/>
            </a:solidFill>
          </p:spPr>
        </p:sp>
      </p:grpSp>
      <p:sp>
        <p:nvSpPr>
          <p:cNvPr name="TextBox 17" id="17"/>
          <p:cNvSpPr txBox="true"/>
          <p:nvPr/>
        </p:nvSpPr>
        <p:spPr>
          <a:xfrm rot="0">
            <a:off x="8498285" y="2598482"/>
            <a:ext cx="8762477"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Learning Theory</a:t>
            </a:r>
          </a:p>
        </p:txBody>
      </p:sp>
      <p:sp>
        <p:nvSpPr>
          <p:cNvPr name="TextBox 18" id="18"/>
          <p:cNvSpPr txBox="true"/>
          <p:nvPr/>
        </p:nvSpPr>
        <p:spPr>
          <a:xfrm rot="0">
            <a:off x="8498285" y="3864463"/>
            <a:ext cx="8391115" cy="1749806"/>
          </a:xfrm>
          <a:prstGeom prst="rect">
            <a:avLst/>
          </a:prstGeom>
        </p:spPr>
        <p:txBody>
          <a:bodyPr anchor="t" rtlCol="false" tIns="0" lIns="0" bIns="0" rIns="0">
            <a:spAutoFit/>
          </a:bodyPr>
          <a:lstStyle/>
          <a:p>
            <a:pPr algn="just" marL="604521" indent="-302261" lvl="1">
              <a:lnSpc>
                <a:spcPts val="4732"/>
              </a:lnSpc>
              <a:buFont typeface="Arial"/>
              <a:buChar char="•"/>
            </a:pPr>
            <a:r>
              <a:rPr lang="en-US" sz="2800" spc="-75">
                <a:solidFill>
                  <a:srgbClr val="007076"/>
                </a:solidFill>
                <a:latin typeface="Montserrat"/>
                <a:ea typeface="Montserrat"/>
                <a:cs typeface="Montserrat"/>
                <a:sym typeface="Montserrat"/>
              </a:rPr>
              <a:t>Behaviorism</a:t>
            </a:r>
          </a:p>
          <a:p>
            <a:pPr algn="just" marL="604521" indent="-302261" lvl="1">
              <a:lnSpc>
                <a:spcPts val="4732"/>
              </a:lnSpc>
              <a:buFont typeface="Arial"/>
              <a:buChar char="•"/>
            </a:pPr>
            <a:r>
              <a:rPr lang="en-US" sz="2800" spc="-75">
                <a:solidFill>
                  <a:srgbClr val="007076"/>
                </a:solidFill>
                <a:latin typeface="Montserrat"/>
                <a:ea typeface="Montserrat"/>
                <a:cs typeface="Montserrat"/>
                <a:sym typeface="Montserrat"/>
              </a:rPr>
              <a:t>Social Learning Theory</a:t>
            </a:r>
          </a:p>
          <a:p>
            <a:pPr algn="just" marL="604521" indent="-302261" lvl="1">
              <a:lnSpc>
                <a:spcPts val="4732"/>
              </a:lnSpc>
              <a:buFont typeface="Arial"/>
              <a:buChar char="•"/>
            </a:pPr>
            <a:r>
              <a:rPr lang="en-US" sz="2800" spc="-75">
                <a:solidFill>
                  <a:srgbClr val="007076"/>
                </a:solidFill>
                <a:latin typeface="Montserrat"/>
                <a:ea typeface="Montserrat"/>
                <a:cs typeface="Montserrat"/>
                <a:sym typeface="Montserrat"/>
              </a:rPr>
              <a:t>Cognitive Learning Theory</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8946085"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SOCIAL LEARNING THEORY (SLT)</a:t>
            </a:r>
          </a:p>
        </p:txBody>
      </p:sp>
      <p:sp>
        <p:nvSpPr>
          <p:cNvPr name="TextBox 9" id="9"/>
          <p:cNvSpPr txBox="true"/>
          <p:nvPr/>
        </p:nvSpPr>
        <p:spPr>
          <a:xfrm rot="0">
            <a:off x="1685988" y="1657754"/>
            <a:ext cx="15573312" cy="6011418"/>
          </a:xfrm>
          <a:prstGeom prst="rect">
            <a:avLst/>
          </a:prstGeom>
        </p:spPr>
        <p:txBody>
          <a:bodyPr anchor="t" rtlCol="false" tIns="0" lIns="0" bIns="0" rIns="0">
            <a:spAutoFit/>
          </a:bodyPr>
          <a:lstStyle/>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Grew out of Cognitivism</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A. Bandura (1973)</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Learning takes place through observation and sensorial experiences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Imitation is the sincerest form of flattery</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SLT is the basis of the movement against violence in media &amp; video games</a:t>
            </a:r>
          </a:p>
          <a:p>
            <a:pPr algn="just">
              <a:lnSpc>
                <a:spcPts val="3497"/>
              </a:lnSpc>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573270" y="2279911"/>
            <a:ext cx="7268319" cy="4745316"/>
            <a:chOff x="0" y="0"/>
            <a:chExt cx="9691092" cy="6327088"/>
          </a:xfrm>
        </p:grpSpPr>
        <p:pic>
          <p:nvPicPr>
            <p:cNvPr name="Picture 7" id="7"/>
            <p:cNvPicPr>
              <a:picLocks noChangeAspect="true"/>
            </p:cNvPicPr>
            <p:nvPr/>
          </p:nvPicPr>
          <p:blipFill>
            <a:blip r:embed="rId3"/>
            <a:srcRect l="12673" t="0" r="10742" b="0"/>
            <a:stretch>
              <a:fillRect/>
            </a:stretch>
          </p:blipFill>
          <p:spPr>
            <a:xfrm flipH="false" flipV="false">
              <a:off x="0" y="0"/>
              <a:ext cx="9691092" cy="6327088"/>
            </a:xfrm>
            <a:prstGeom prst="rect">
              <a:avLst/>
            </a:prstGeom>
          </p:spPr>
        </p:pic>
      </p:grpSp>
      <p:grpSp>
        <p:nvGrpSpPr>
          <p:cNvPr name="Group 8" id="8"/>
          <p:cNvGrpSpPr/>
          <p:nvPr/>
        </p:nvGrpSpPr>
        <p:grpSpPr>
          <a:xfrm rot="-2700000">
            <a:off x="7278105" y="4560546"/>
            <a:ext cx="16683427" cy="7187469"/>
            <a:chOff x="0" y="0"/>
            <a:chExt cx="4393989" cy="1892996"/>
          </a:xfrm>
        </p:grpSpPr>
        <p:sp>
          <p:nvSpPr>
            <p:cNvPr name="Freeform 9" id="9"/>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0" id="10"/>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1170787" y="3103936"/>
            <a:ext cx="8391115" cy="496824"/>
            <a:chOff x="0" y="0"/>
            <a:chExt cx="11188153" cy="662432"/>
          </a:xfrm>
        </p:grpSpPr>
        <p:sp>
          <p:nvSpPr>
            <p:cNvPr name="Freeform 16" id="16"/>
            <p:cNvSpPr/>
            <p:nvPr/>
          </p:nvSpPr>
          <p:spPr>
            <a:xfrm flipH="false" flipV="false" rot="0">
              <a:off x="0" y="34240"/>
              <a:ext cx="493200" cy="493200"/>
            </a:xfrm>
            <a:custGeom>
              <a:avLst/>
              <a:gdLst/>
              <a:ahLst/>
              <a:cxnLst/>
              <a:rect r="r" b="b" t="t" l="l"/>
              <a:pathLst>
                <a:path h="493200" w="493200">
                  <a:moveTo>
                    <a:pt x="0" y="0"/>
                  </a:moveTo>
                  <a:lnTo>
                    <a:pt x="493200" y="0"/>
                  </a:lnTo>
                  <a:lnTo>
                    <a:pt x="493200" y="493199"/>
                  </a:lnTo>
                  <a:lnTo>
                    <a:pt x="0" y="4931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619150" y="47625"/>
              <a:ext cx="10569004" cy="614807"/>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Attend to pertinent clues</a:t>
              </a:r>
            </a:p>
          </p:txBody>
        </p:sp>
      </p:grpSp>
      <p:grpSp>
        <p:nvGrpSpPr>
          <p:cNvPr name="Group 18" id="18"/>
          <p:cNvGrpSpPr/>
          <p:nvPr/>
        </p:nvGrpSpPr>
        <p:grpSpPr>
          <a:xfrm rot="0">
            <a:off x="1170787" y="3781735"/>
            <a:ext cx="8391115" cy="934974"/>
            <a:chOff x="0" y="0"/>
            <a:chExt cx="11188153" cy="1246632"/>
          </a:xfrm>
        </p:grpSpPr>
        <p:sp>
          <p:nvSpPr>
            <p:cNvPr name="Freeform 19" id="19"/>
            <p:cNvSpPr/>
            <p:nvPr/>
          </p:nvSpPr>
          <p:spPr>
            <a:xfrm flipH="false" flipV="false" rot="0">
              <a:off x="0" y="34240"/>
              <a:ext cx="493200" cy="493200"/>
            </a:xfrm>
            <a:custGeom>
              <a:avLst/>
              <a:gdLst/>
              <a:ahLst/>
              <a:cxnLst/>
              <a:rect r="r" b="b" t="t" l="l"/>
              <a:pathLst>
                <a:path h="493200" w="493200">
                  <a:moveTo>
                    <a:pt x="0" y="0"/>
                  </a:moveTo>
                  <a:lnTo>
                    <a:pt x="493200" y="0"/>
                  </a:lnTo>
                  <a:lnTo>
                    <a:pt x="493200" y="493199"/>
                  </a:lnTo>
                  <a:lnTo>
                    <a:pt x="0" y="4931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619150" y="47625"/>
              <a:ext cx="10569004" cy="1199007"/>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Code for memory (store a visual image)</a:t>
              </a:r>
            </a:p>
            <a:p>
              <a:pPr algn="just">
                <a:lnSpc>
                  <a:spcPts val="3497"/>
                </a:lnSpc>
              </a:pPr>
            </a:p>
          </p:txBody>
        </p:sp>
      </p:grpSp>
      <p:grpSp>
        <p:nvGrpSpPr>
          <p:cNvPr name="Group 21" id="21"/>
          <p:cNvGrpSpPr/>
          <p:nvPr/>
        </p:nvGrpSpPr>
        <p:grpSpPr>
          <a:xfrm rot="0">
            <a:off x="1170787" y="4404157"/>
            <a:ext cx="8391115" cy="496824"/>
            <a:chOff x="0" y="0"/>
            <a:chExt cx="11188153" cy="662432"/>
          </a:xfrm>
        </p:grpSpPr>
        <p:sp>
          <p:nvSpPr>
            <p:cNvPr name="Freeform 22" id="22"/>
            <p:cNvSpPr/>
            <p:nvPr/>
          </p:nvSpPr>
          <p:spPr>
            <a:xfrm flipH="false" flipV="false" rot="0">
              <a:off x="0" y="34240"/>
              <a:ext cx="493200" cy="493200"/>
            </a:xfrm>
            <a:custGeom>
              <a:avLst/>
              <a:gdLst/>
              <a:ahLst/>
              <a:cxnLst/>
              <a:rect r="r" b="b" t="t" l="l"/>
              <a:pathLst>
                <a:path h="493200" w="493200">
                  <a:moveTo>
                    <a:pt x="0" y="0"/>
                  </a:moveTo>
                  <a:lnTo>
                    <a:pt x="493200" y="0"/>
                  </a:lnTo>
                  <a:lnTo>
                    <a:pt x="493200" y="493199"/>
                  </a:lnTo>
                  <a:lnTo>
                    <a:pt x="0" y="4931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3" id="23"/>
            <p:cNvSpPr txBox="true"/>
            <p:nvPr/>
          </p:nvSpPr>
          <p:spPr>
            <a:xfrm rot="0">
              <a:off x="619150" y="47625"/>
              <a:ext cx="10569004" cy="614807"/>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Retain in memory</a:t>
              </a:r>
            </a:p>
          </p:txBody>
        </p:sp>
      </p:grpSp>
      <p:grpSp>
        <p:nvGrpSpPr>
          <p:cNvPr name="Group 24" id="24"/>
          <p:cNvGrpSpPr/>
          <p:nvPr/>
        </p:nvGrpSpPr>
        <p:grpSpPr>
          <a:xfrm rot="0">
            <a:off x="1170787" y="5081956"/>
            <a:ext cx="8391115" cy="934974"/>
            <a:chOff x="0" y="0"/>
            <a:chExt cx="11188153" cy="1246632"/>
          </a:xfrm>
        </p:grpSpPr>
        <p:sp>
          <p:nvSpPr>
            <p:cNvPr name="Freeform 25" id="25"/>
            <p:cNvSpPr/>
            <p:nvPr/>
          </p:nvSpPr>
          <p:spPr>
            <a:xfrm flipH="false" flipV="false" rot="0">
              <a:off x="0" y="34240"/>
              <a:ext cx="493200" cy="493200"/>
            </a:xfrm>
            <a:custGeom>
              <a:avLst/>
              <a:gdLst/>
              <a:ahLst/>
              <a:cxnLst/>
              <a:rect r="r" b="b" t="t" l="l"/>
              <a:pathLst>
                <a:path h="493200" w="493200">
                  <a:moveTo>
                    <a:pt x="0" y="0"/>
                  </a:moveTo>
                  <a:lnTo>
                    <a:pt x="493200" y="0"/>
                  </a:lnTo>
                  <a:lnTo>
                    <a:pt x="493200" y="493199"/>
                  </a:lnTo>
                  <a:lnTo>
                    <a:pt x="0" y="4931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6" id="26"/>
            <p:cNvSpPr txBox="true"/>
            <p:nvPr/>
          </p:nvSpPr>
          <p:spPr>
            <a:xfrm rot="0">
              <a:off x="619150" y="47625"/>
              <a:ext cx="10569004" cy="1199007"/>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Accurately reproduce the observed activity</a:t>
              </a:r>
            </a:p>
          </p:txBody>
        </p:sp>
      </p:grpSp>
      <p:grpSp>
        <p:nvGrpSpPr>
          <p:cNvPr name="Group 27" id="27"/>
          <p:cNvGrpSpPr/>
          <p:nvPr/>
        </p:nvGrpSpPr>
        <p:grpSpPr>
          <a:xfrm rot="0">
            <a:off x="1170787" y="6197904"/>
            <a:ext cx="8391115" cy="934974"/>
            <a:chOff x="0" y="0"/>
            <a:chExt cx="11188153" cy="1246632"/>
          </a:xfrm>
        </p:grpSpPr>
        <p:sp>
          <p:nvSpPr>
            <p:cNvPr name="Freeform 28" id="28"/>
            <p:cNvSpPr/>
            <p:nvPr/>
          </p:nvSpPr>
          <p:spPr>
            <a:xfrm flipH="false" flipV="false" rot="0">
              <a:off x="0" y="34240"/>
              <a:ext cx="493200" cy="493200"/>
            </a:xfrm>
            <a:custGeom>
              <a:avLst/>
              <a:gdLst/>
              <a:ahLst/>
              <a:cxnLst/>
              <a:rect r="r" b="b" t="t" l="l"/>
              <a:pathLst>
                <a:path h="493200" w="493200">
                  <a:moveTo>
                    <a:pt x="0" y="0"/>
                  </a:moveTo>
                  <a:lnTo>
                    <a:pt x="493200" y="0"/>
                  </a:lnTo>
                  <a:lnTo>
                    <a:pt x="493200" y="493199"/>
                  </a:lnTo>
                  <a:lnTo>
                    <a:pt x="0" y="4931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9" id="29"/>
            <p:cNvSpPr txBox="true"/>
            <p:nvPr/>
          </p:nvSpPr>
          <p:spPr>
            <a:xfrm rot="0">
              <a:off x="619150" y="47625"/>
              <a:ext cx="10569004" cy="1199007"/>
            </a:xfrm>
            <a:prstGeom prst="rect">
              <a:avLst/>
            </a:prstGeom>
          </p:spPr>
          <p:txBody>
            <a:bodyPr anchor="t" rtlCol="false" tIns="0" lIns="0" bIns="0" rIns="0">
              <a:spAutoFit/>
            </a:bodyPr>
            <a:lstStyle/>
            <a:p>
              <a:pPr algn="just">
                <a:lnSpc>
                  <a:spcPts val="3497"/>
                </a:lnSpc>
              </a:pPr>
              <a:r>
                <a:rPr lang="en-US" sz="3299" spc="-89">
                  <a:solidFill>
                    <a:srgbClr val="007076"/>
                  </a:solidFill>
                  <a:latin typeface="Montserrat"/>
                  <a:ea typeface="Montserrat"/>
                  <a:cs typeface="Montserrat"/>
                  <a:sym typeface="Montserrat"/>
                </a:rPr>
                <a:t>Possess sufficient motivation to apply new learning</a:t>
              </a:r>
            </a:p>
          </p:txBody>
        </p:sp>
      </p:grpSp>
      <p:sp>
        <p:nvSpPr>
          <p:cNvPr name="TextBox 30" id="30"/>
          <p:cNvSpPr txBox="true"/>
          <p:nvPr/>
        </p:nvSpPr>
        <p:spPr>
          <a:xfrm rot="0">
            <a:off x="1170787" y="743903"/>
            <a:ext cx="9402483"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Social Learning Theory</a:t>
            </a:r>
          </a:p>
        </p:txBody>
      </p:sp>
      <p:sp>
        <p:nvSpPr>
          <p:cNvPr name="TextBox 31" id="31"/>
          <p:cNvSpPr txBox="true"/>
          <p:nvPr/>
        </p:nvSpPr>
        <p:spPr>
          <a:xfrm rot="0">
            <a:off x="1170787" y="1968556"/>
            <a:ext cx="10578222" cy="954405"/>
          </a:xfrm>
          <a:prstGeom prst="rect">
            <a:avLst/>
          </a:prstGeom>
        </p:spPr>
        <p:txBody>
          <a:bodyPr anchor="t" rtlCol="false" tIns="0" lIns="0" bIns="0" rIns="0">
            <a:spAutoFit/>
          </a:bodyPr>
          <a:lstStyle/>
          <a:p>
            <a:pPr algn="l">
              <a:lnSpc>
                <a:spcPts val="3794"/>
              </a:lnSpc>
            </a:pPr>
            <a:r>
              <a:rPr lang="en-US" sz="3299" spc="128">
                <a:solidFill>
                  <a:srgbClr val="007076"/>
                </a:solidFill>
                <a:latin typeface="Montserrat"/>
                <a:ea typeface="Montserrat"/>
                <a:cs typeface="Montserrat"/>
                <a:sym typeface="Montserrat"/>
              </a:rPr>
              <a:t>Learning From Models -</a:t>
            </a:r>
            <a:r>
              <a:rPr lang="en-US" sz="3299" spc="128">
                <a:solidFill>
                  <a:srgbClr val="007076"/>
                </a:solidFill>
                <a:latin typeface="Montserrat"/>
                <a:ea typeface="Montserrat"/>
                <a:cs typeface="Montserrat"/>
                <a:sym typeface="Montserrat"/>
              </a:rPr>
              <a:t>Albert Bandura</a:t>
            </a:r>
          </a:p>
          <a:p>
            <a:pPr algn="l">
              <a:lnSpc>
                <a:spcPts val="3794"/>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170787" y="743903"/>
            <a:ext cx="9402483"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Social Learning Theory</a:t>
            </a:r>
          </a:p>
        </p:txBody>
      </p:sp>
      <p:sp>
        <p:nvSpPr>
          <p:cNvPr name="TextBox 14" id="14"/>
          <p:cNvSpPr txBox="true"/>
          <p:nvPr/>
        </p:nvSpPr>
        <p:spPr>
          <a:xfrm rot="0">
            <a:off x="1170787" y="1968556"/>
            <a:ext cx="11675663" cy="1430655"/>
          </a:xfrm>
          <a:prstGeom prst="rect">
            <a:avLst/>
          </a:prstGeom>
        </p:spPr>
        <p:txBody>
          <a:bodyPr anchor="t" rtlCol="false" tIns="0" lIns="0" bIns="0" rIns="0">
            <a:spAutoFit/>
          </a:bodyPr>
          <a:lstStyle/>
          <a:p>
            <a:pPr algn="l">
              <a:lnSpc>
                <a:spcPts val="3794"/>
              </a:lnSpc>
            </a:pPr>
            <a:r>
              <a:rPr lang="en-US" sz="3299" spc="128">
                <a:solidFill>
                  <a:srgbClr val="007076"/>
                </a:solidFill>
                <a:latin typeface="Montserrat"/>
                <a:ea typeface="Montserrat"/>
                <a:cs typeface="Montserrat"/>
                <a:sym typeface="Montserrat"/>
              </a:rPr>
              <a:t>Research indicates that the following factors influence the strength of learning from models:</a:t>
            </a:r>
          </a:p>
          <a:p>
            <a:pPr algn="l">
              <a:lnSpc>
                <a:spcPts val="3794"/>
              </a:lnSpc>
              <a:spcBef>
                <a:spcPct val="0"/>
              </a:spcBef>
            </a:pPr>
          </a:p>
        </p:txBody>
      </p:sp>
      <p:sp>
        <p:nvSpPr>
          <p:cNvPr name="TextBox 15" id="15"/>
          <p:cNvSpPr txBox="true"/>
          <p:nvPr/>
        </p:nvSpPr>
        <p:spPr>
          <a:xfrm rot="0">
            <a:off x="1540687" y="3065836"/>
            <a:ext cx="11675663" cy="5312855"/>
          </a:xfrm>
          <a:prstGeom prst="rect">
            <a:avLst/>
          </a:prstGeom>
        </p:spPr>
        <p:txBody>
          <a:bodyPr anchor="t" rtlCol="false" tIns="0" lIns="0" bIns="0" rIns="0">
            <a:spAutoFit/>
          </a:bodyPr>
          <a:lstStyle/>
          <a:p>
            <a:pPr algn="l">
              <a:lnSpc>
                <a:spcPts val="7457"/>
              </a:lnSpc>
            </a:pPr>
            <a:r>
              <a:rPr lang="en-US" sz="3299" spc="128">
                <a:solidFill>
                  <a:srgbClr val="007076"/>
                </a:solidFill>
                <a:latin typeface="Montserrat"/>
                <a:ea typeface="Montserrat"/>
                <a:cs typeface="Montserrat"/>
                <a:sym typeface="Montserrat"/>
              </a:rPr>
              <a:t>1. How much power the model seems to have</a:t>
            </a:r>
          </a:p>
          <a:p>
            <a:pPr algn="l">
              <a:lnSpc>
                <a:spcPts val="7457"/>
              </a:lnSpc>
            </a:pPr>
            <a:r>
              <a:rPr lang="en-US" sz="3299" spc="128">
                <a:solidFill>
                  <a:srgbClr val="007076"/>
                </a:solidFill>
                <a:latin typeface="Montserrat"/>
                <a:ea typeface="Montserrat"/>
                <a:cs typeface="Montserrat"/>
                <a:sym typeface="Montserrat"/>
              </a:rPr>
              <a:t>2. How capable the model seems to be</a:t>
            </a:r>
          </a:p>
          <a:p>
            <a:pPr algn="l">
              <a:lnSpc>
                <a:spcPts val="7457"/>
              </a:lnSpc>
            </a:pPr>
            <a:r>
              <a:rPr lang="en-US" sz="3299" spc="128">
                <a:solidFill>
                  <a:srgbClr val="007076"/>
                </a:solidFill>
                <a:latin typeface="Montserrat"/>
                <a:ea typeface="Montserrat"/>
                <a:cs typeface="Montserrat"/>
                <a:sym typeface="Montserrat"/>
              </a:rPr>
              <a:t>3. How nurturing (caring) the model seems to be</a:t>
            </a:r>
          </a:p>
          <a:p>
            <a:pPr algn="l">
              <a:lnSpc>
                <a:spcPts val="7457"/>
              </a:lnSpc>
            </a:pPr>
            <a:r>
              <a:rPr lang="en-US" sz="3299" spc="128">
                <a:solidFill>
                  <a:srgbClr val="007076"/>
                </a:solidFill>
                <a:latin typeface="Montserrat"/>
                <a:ea typeface="Montserrat"/>
                <a:cs typeface="Montserrat"/>
                <a:sym typeface="Montserrat"/>
              </a:rPr>
              <a:t>4. How similar the learner perceives self and model </a:t>
            </a:r>
          </a:p>
          <a:p>
            <a:pPr algn="l">
              <a:lnSpc>
                <a:spcPts val="7457"/>
              </a:lnSpc>
            </a:pPr>
            <a:r>
              <a:rPr lang="en-US" sz="3299" spc="128">
                <a:solidFill>
                  <a:srgbClr val="007076"/>
                </a:solidFill>
                <a:latin typeface="Montserrat"/>
                <a:ea typeface="Montserrat"/>
                <a:cs typeface="Montserrat"/>
                <a:sym typeface="Montserrat"/>
              </a:rPr>
              <a:t>5. How many models the learner observes</a:t>
            </a:r>
          </a:p>
          <a:p>
            <a:pPr algn="l">
              <a:lnSpc>
                <a:spcPts val="3794"/>
              </a:lnSpc>
              <a:spcBef>
                <a:spcPct val="0"/>
              </a:spcBef>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3584458" y="3086100"/>
            <a:ext cx="4466540" cy="4114800"/>
          </a:xfrm>
          <a:custGeom>
            <a:avLst/>
            <a:gdLst/>
            <a:ahLst/>
            <a:cxnLst/>
            <a:rect r="r" b="b" t="t" l="l"/>
            <a:pathLst>
              <a:path h="4114800" w="4466540">
                <a:moveTo>
                  <a:pt x="0" y="0"/>
                </a:moveTo>
                <a:lnTo>
                  <a:pt x="4466540" y="0"/>
                </a:lnTo>
                <a:lnTo>
                  <a:pt x="4466540"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1170787" y="743903"/>
            <a:ext cx="9402483"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Social Learning Theory</a:t>
            </a:r>
          </a:p>
        </p:txBody>
      </p:sp>
      <p:sp>
        <p:nvSpPr>
          <p:cNvPr name="TextBox 15" id="15"/>
          <p:cNvSpPr txBox="true"/>
          <p:nvPr/>
        </p:nvSpPr>
        <p:spPr>
          <a:xfrm rot="0">
            <a:off x="1170787" y="1968556"/>
            <a:ext cx="11675663" cy="1430655"/>
          </a:xfrm>
          <a:prstGeom prst="rect">
            <a:avLst/>
          </a:prstGeom>
        </p:spPr>
        <p:txBody>
          <a:bodyPr anchor="t" rtlCol="false" tIns="0" lIns="0" bIns="0" rIns="0">
            <a:spAutoFit/>
          </a:bodyPr>
          <a:lstStyle/>
          <a:p>
            <a:pPr algn="l">
              <a:lnSpc>
                <a:spcPts val="3794"/>
              </a:lnSpc>
            </a:pPr>
            <a:r>
              <a:rPr lang="en-US" sz="3299" spc="128">
                <a:solidFill>
                  <a:srgbClr val="007076"/>
                </a:solidFill>
                <a:latin typeface="Montserrat"/>
                <a:ea typeface="Montserrat"/>
                <a:cs typeface="Montserrat"/>
                <a:sym typeface="Montserrat"/>
              </a:rPr>
              <a:t>Four interrelated processes establish and strengthen identification with the model:</a:t>
            </a:r>
          </a:p>
          <a:p>
            <a:pPr algn="l">
              <a:lnSpc>
                <a:spcPts val="3794"/>
              </a:lnSpc>
              <a:spcBef>
                <a:spcPct val="0"/>
              </a:spcBef>
            </a:pPr>
          </a:p>
        </p:txBody>
      </p:sp>
      <p:sp>
        <p:nvSpPr>
          <p:cNvPr name="TextBox 16" id="16"/>
          <p:cNvSpPr txBox="true"/>
          <p:nvPr/>
        </p:nvSpPr>
        <p:spPr>
          <a:xfrm rot="0">
            <a:off x="1540687" y="3065836"/>
            <a:ext cx="11675663" cy="5312855"/>
          </a:xfrm>
          <a:prstGeom prst="rect">
            <a:avLst/>
          </a:prstGeom>
        </p:spPr>
        <p:txBody>
          <a:bodyPr anchor="t" rtlCol="false" tIns="0" lIns="0" bIns="0" rIns="0">
            <a:spAutoFit/>
          </a:bodyPr>
          <a:lstStyle/>
          <a:p>
            <a:pPr algn="l">
              <a:lnSpc>
                <a:spcPts val="7457"/>
              </a:lnSpc>
            </a:pPr>
            <a:r>
              <a:rPr lang="en-US" sz="3299" spc="128">
                <a:solidFill>
                  <a:srgbClr val="007076"/>
                </a:solidFill>
                <a:latin typeface="Montserrat"/>
                <a:ea typeface="Montserrat"/>
                <a:cs typeface="Montserrat"/>
                <a:sym typeface="Montserrat"/>
              </a:rPr>
              <a:t>1. Children want to be like the model</a:t>
            </a:r>
          </a:p>
          <a:p>
            <a:pPr algn="l">
              <a:lnSpc>
                <a:spcPts val="7457"/>
              </a:lnSpc>
            </a:pPr>
            <a:r>
              <a:rPr lang="en-US" sz="3299" spc="128">
                <a:solidFill>
                  <a:srgbClr val="007076"/>
                </a:solidFill>
                <a:latin typeface="Montserrat"/>
                <a:ea typeface="Montserrat"/>
                <a:cs typeface="Montserrat"/>
                <a:sym typeface="Montserrat"/>
              </a:rPr>
              <a:t>2. Children believe they are like the model</a:t>
            </a:r>
          </a:p>
          <a:p>
            <a:pPr algn="l">
              <a:lnSpc>
                <a:spcPts val="7457"/>
              </a:lnSpc>
            </a:pPr>
            <a:r>
              <a:rPr lang="en-US" sz="3299" spc="128">
                <a:solidFill>
                  <a:srgbClr val="007076"/>
                </a:solidFill>
                <a:latin typeface="Montserrat"/>
                <a:ea typeface="Montserrat"/>
                <a:cs typeface="Montserrat"/>
                <a:sym typeface="Montserrat"/>
              </a:rPr>
              <a:t>3. Children experience emotions like those the model is feeling.</a:t>
            </a:r>
          </a:p>
          <a:p>
            <a:pPr algn="l">
              <a:lnSpc>
                <a:spcPts val="7457"/>
              </a:lnSpc>
            </a:pPr>
            <a:r>
              <a:rPr lang="en-US" sz="3299" spc="128">
                <a:solidFill>
                  <a:srgbClr val="007076"/>
                </a:solidFill>
                <a:latin typeface="Montserrat"/>
                <a:ea typeface="Montserrat"/>
                <a:cs typeface="Montserrat"/>
                <a:sym typeface="Montserrat"/>
              </a:rPr>
              <a:t>4. Children act like the model.</a:t>
            </a:r>
          </a:p>
          <a:p>
            <a:pPr algn="l">
              <a:lnSpc>
                <a:spcPts val="3794"/>
              </a:lnSpc>
              <a:spcBef>
                <a:spcPct val="0"/>
              </a:spcBef>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170787" y="743903"/>
            <a:ext cx="9402483"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Social Learning Theory</a:t>
            </a:r>
          </a:p>
        </p:txBody>
      </p:sp>
      <p:sp>
        <p:nvSpPr>
          <p:cNvPr name="TextBox 14" id="14"/>
          <p:cNvSpPr txBox="true"/>
          <p:nvPr/>
        </p:nvSpPr>
        <p:spPr>
          <a:xfrm rot="0">
            <a:off x="1170787" y="2421913"/>
            <a:ext cx="11675663" cy="1906905"/>
          </a:xfrm>
          <a:prstGeom prst="rect">
            <a:avLst/>
          </a:prstGeom>
        </p:spPr>
        <p:txBody>
          <a:bodyPr anchor="t" rtlCol="false" tIns="0" lIns="0" bIns="0" rIns="0">
            <a:spAutoFit/>
          </a:bodyPr>
          <a:lstStyle/>
          <a:p>
            <a:pPr algn="l" marL="712467" indent="-356233" lvl="1">
              <a:lnSpc>
                <a:spcPts val="3794"/>
              </a:lnSpc>
              <a:buFont typeface="Arial"/>
              <a:buChar char="•"/>
            </a:pPr>
            <a:r>
              <a:rPr lang="en-US" sz="3299" spc="128">
                <a:solidFill>
                  <a:srgbClr val="007076"/>
                </a:solidFill>
                <a:latin typeface="Montserrat"/>
                <a:ea typeface="Montserrat"/>
                <a:cs typeface="Montserrat"/>
                <a:sym typeface="Montserrat"/>
              </a:rPr>
              <a:t>Through identification, children come to believe they have the same characteristics as the model. </a:t>
            </a:r>
          </a:p>
          <a:p>
            <a:pPr algn="l">
              <a:lnSpc>
                <a:spcPts val="3794"/>
              </a:lnSpc>
              <a:spcBef>
                <a:spcPct val="0"/>
              </a:spcBef>
            </a:pPr>
          </a:p>
        </p:txBody>
      </p:sp>
      <p:sp>
        <p:nvSpPr>
          <p:cNvPr name="TextBox 15" id="15"/>
          <p:cNvSpPr txBox="true"/>
          <p:nvPr/>
        </p:nvSpPr>
        <p:spPr>
          <a:xfrm rot="0">
            <a:off x="1170787" y="4199573"/>
            <a:ext cx="11675663" cy="1906905"/>
          </a:xfrm>
          <a:prstGeom prst="rect">
            <a:avLst/>
          </a:prstGeom>
        </p:spPr>
        <p:txBody>
          <a:bodyPr anchor="t" rtlCol="false" tIns="0" lIns="0" bIns="0" rIns="0">
            <a:spAutoFit/>
          </a:bodyPr>
          <a:lstStyle/>
          <a:p>
            <a:pPr algn="l" marL="712467" indent="-356233" lvl="1">
              <a:lnSpc>
                <a:spcPts val="3794"/>
              </a:lnSpc>
              <a:buFont typeface="Arial"/>
              <a:buChar char="•"/>
            </a:pPr>
            <a:r>
              <a:rPr lang="en-US" sz="3299" spc="128">
                <a:solidFill>
                  <a:srgbClr val="007076"/>
                </a:solidFill>
                <a:latin typeface="Montserrat"/>
                <a:ea typeface="Montserrat"/>
                <a:cs typeface="Montserrat"/>
                <a:sym typeface="Montserrat"/>
              </a:rPr>
              <a:t>When they identify with a nurturant and competent model, children feel pleased and proud.</a:t>
            </a:r>
          </a:p>
          <a:p>
            <a:pPr algn="l">
              <a:lnSpc>
                <a:spcPts val="3794"/>
              </a:lnSpc>
              <a:spcBef>
                <a:spcPct val="0"/>
              </a:spcBef>
            </a:pPr>
          </a:p>
        </p:txBody>
      </p:sp>
      <p:sp>
        <p:nvSpPr>
          <p:cNvPr name="TextBox 16" id="16"/>
          <p:cNvSpPr txBox="true"/>
          <p:nvPr/>
        </p:nvSpPr>
        <p:spPr>
          <a:xfrm rot="0">
            <a:off x="1170787" y="5945669"/>
            <a:ext cx="11675663" cy="1430655"/>
          </a:xfrm>
          <a:prstGeom prst="rect">
            <a:avLst/>
          </a:prstGeom>
        </p:spPr>
        <p:txBody>
          <a:bodyPr anchor="t" rtlCol="false" tIns="0" lIns="0" bIns="0" rIns="0">
            <a:spAutoFit/>
          </a:bodyPr>
          <a:lstStyle/>
          <a:p>
            <a:pPr algn="l" marL="712467" indent="-356233" lvl="1">
              <a:lnSpc>
                <a:spcPts val="3794"/>
              </a:lnSpc>
              <a:buFont typeface="Arial"/>
              <a:buChar char="•"/>
            </a:pPr>
            <a:r>
              <a:rPr lang="en-US" sz="3299" spc="128">
                <a:solidFill>
                  <a:srgbClr val="007076"/>
                </a:solidFill>
                <a:latin typeface="Montserrat"/>
                <a:ea typeface="Montserrat"/>
                <a:cs typeface="Montserrat"/>
                <a:sym typeface="Montserrat"/>
              </a:rPr>
              <a:t>When they identify with an inadequate model, children feel unhappy and insecure.</a:t>
            </a:r>
          </a:p>
          <a:p>
            <a:pPr algn="l">
              <a:lnSpc>
                <a:spcPts val="3794"/>
              </a:lnSpc>
              <a:spcBef>
                <a:spcPct val="0"/>
              </a:spcBef>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98600"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68500"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658141" y="3134507"/>
            <a:ext cx="3601159" cy="2998783"/>
          </a:xfrm>
          <a:custGeom>
            <a:avLst/>
            <a:gdLst/>
            <a:ahLst/>
            <a:cxnLst/>
            <a:rect r="r" b="b" t="t" l="l"/>
            <a:pathLst>
              <a:path h="2998783" w="3601159">
                <a:moveTo>
                  <a:pt x="0" y="0"/>
                </a:moveTo>
                <a:lnTo>
                  <a:pt x="3601159" y="0"/>
                </a:lnTo>
                <a:lnTo>
                  <a:pt x="3601159" y="2998784"/>
                </a:lnTo>
                <a:lnTo>
                  <a:pt x="0" y="29987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540687" y="2726354"/>
            <a:ext cx="9769247" cy="5061903"/>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Collaborative learning and group work</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Modeling responses and expectations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Opportunities to observe experts in action</a:t>
            </a:r>
          </a:p>
          <a:p>
            <a:pPr algn="l">
              <a:lnSpc>
                <a:spcPts val="3794"/>
              </a:lnSpc>
              <a:spcBef>
                <a:spcPct val="0"/>
              </a:spcBef>
            </a:pPr>
          </a:p>
        </p:txBody>
      </p:sp>
      <p:sp>
        <p:nvSpPr>
          <p:cNvPr name="TextBox 12" id="12"/>
          <p:cNvSpPr txBox="true"/>
          <p:nvPr/>
        </p:nvSpPr>
        <p:spPr>
          <a:xfrm rot="0">
            <a:off x="684405" y="473253"/>
            <a:ext cx="11834068" cy="2044700"/>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SOCIAL LEARNING THEORY</a:t>
            </a:r>
          </a:p>
          <a:p>
            <a:pPr algn="l">
              <a:lnSpc>
                <a:spcPts val="8049"/>
              </a:lnSpc>
            </a:pPr>
            <a:r>
              <a:rPr lang="en-US" sz="6999" spc="272">
                <a:solidFill>
                  <a:srgbClr val="007076"/>
                </a:solidFill>
                <a:latin typeface="Anton"/>
                <a:ea typeface="Anton"/>
                <a:cs typeface="Anton"/>
                <a:sym typeface="Anton"/>
              </a:rPr>
              <a:t>IN THE CLASSROOM</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TextBox 8" id="8"/>
          <p:cNvSpPr txBox="true"/>
          <p:nvPr/>
        </p:nvSpPr>
        <p:spPr>
          <a:xfrm rot="0">
            <a:off x="1028700" y="875220"/>
            <a:ext cx="11076413"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CRITIQUES OF SOCIAL LEARNING THEORY </a:t>
            </a:r>
          </a:p>
        </p:txBody>
      </p:sp>
      <p:sp>
        <p:nvSpPr>
          <p:cNvPr name="TextBox 9" id="9"/>
          <p:cNvSpPr txBox="true"/>
          <p:nvPr/>
        </p:nvSpPr>
        <p:spPr>
          <a:xfrm rot="0">
            <a:off x="1685988" y="1657754"/>
            <a:ext cx="15573312" cy="5230368"/>
          </a:xfrm>
          <a:prstGeom prst="rect">
            <a:avLst/>
          </a:prstGeom>
        </p:spPr>
        <p:txBody>
          <a:bodyPr anchor="t" rtlCol="false" tIns="0" lIns="0" bIns="0" rIns="0">
            <a:spAutoFit/>
          </a:bodyPr>
          <a:lstStyle/>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Does not take into account individuality, context, and experience as mediating factors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Suggests students learn best as passive receivers of sensory stimuli, as opposed to being active learners</a:t>
            </a:r>
          </a:p>
          <a:p>
            <a:pPr algn="just" marL="712468" indent="-356234" lvl="1">
              <a:lnSpc>
                <a:spcPts val="6203"/>
              </a:lnSpc>
              <a:buFont typeface="Arial"/>
              <a:buChar char="•"/>
            </a:pPr>
            <a:r>
              <a:rPr lang="en-US" b="true" sz="3299" spc="290">
                <a:solidFill>
                  <a:srgbClr val="007076"/>
                </a:solidFill>
                <a:latin typeface="Montserrat Bold"/>
                <a:ea typeface="Montserrat Bold"/>
                <a:cs typeface="Montserrat Bold"/>
                <a:sym typeface="Montserrat Bold"/>
              </a:rPr>
              <a:t>Emotions and motivation not considered important or connected to learning</a:t>
            </a:r>
          </a:p>
          <a:p>
            <a:pPr algn="just">
              <a:lnSpc>
                <a:spcPts val="3497"/>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031914"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1814"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71713"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91302" y="469988"/>
            <a:ext cx="17105396" cy="7734872"/>
            <a:chOff x="0" y="0"/>
            <a:chExt cx="27254791" cy="12324317"/>
          </a:xfrm>
        </p:grpSpPr>
        <p:sp>
          <p:nvSpPr>
            <p:cNvPr name="Freeform 7" id="7"/>
            <p:cNvSpPr/>
            <p:nvPr/>
          </p:nvSpPr>
          <p:spPr>
            <a:xfrm flipH="false" flipV="false" rot="0">
              <a:off x="0" y="0"/>
              <a:ext cx="27254792" cy="12324318"/>
            </a:xfrm>
            <a:custGeom>
              <a:avLst/>
              <a:gdLst/>
              <a:ahLst/>
              <a:cxnLst/>
              <a:rect r="r" b="b" t="t" l="l"/>
              <a:pathLst>
                <a:path h="12324318" w="27254792">
                  <a:moveTo>
                    <a:pt x="0" y="0"/>
                  </a:moveTo>
                  <a:lnTo>
                    <a:pt x="0" y="12324318"/>
                  </a:lnTo>
                  <a:lnTo>
                    <a:pt x="27254792" y="12324318"/>
                  </a:lnTo>
                  <a:lnTo>
                    <a:pt x="27254792" y="0"/>
                  </a:lnTo>
                  <a:lnTo>
                    <a:pt x="0" y="0"/>
                  </a:lnTo>
                  <a:close/>
                  <a:moveTo>
                    <a:pt x="27193832" y="12263357"/>
                  </a:moveTo>
                  <a:lnTo>
                    <a:pt x="59690" y="12263357"/>
                  </a:lnTo>
                  <a:lnTo>
                    <a:pt x="59690" y="59690"/>
                  </a:lnTo>
                  <a:lnTo>
                    <a:pt x="27193832" y="59690"/>
                  </a:lnTo>
                  <a:lnTo>
                    <a:pt x="27193832" y="12263357"/>
                  </a:lnTo>
                  <a:close/>
                </a:path>
              </a:pathLst>
            </a:custGeom>
            <a:solidFill>
              <a:srgbClr val="00B2BD"/>
            </a:solidFill>
          </p:spPr>
        </p:sp>
      </p:grpSp>
      <p:sp>
        <p:nvSpPr>
          <p:cNvPr name="Freeform 8" id="8"/>
          <p:cNvSpPr/>
          <p:nvPr/>
        </p:nvSpPr>
        <p:spPr>
          <a:xfrm flipH="false" flipV="false" rot="0">
            <a:off x="16797647" y="8417281"/>
            <a:ext cx="899050" cy="1113689"/>
          </a:xfrm>
          <a:custGeom>
            <a:avLst/>
            <a:gdLst/>
            <a:ahLst/>
            <a:cxnLst/>
            <a:rect r="r" b="b" t="t" l="l"/>
            <a:pathLst>
              <a:path h="1113689" w="899050">
                <a:moveTo>
                  <a:pt x="0" y="0"/>
                </a:moveTo>
                <a:lnTo>
                  <a:pt x="899051" y="0"/>
                </a:lnTo>
                <a:lnTo>
                  <a:pt x="899051" y="1113689"/>
                </a:lnTo>
                <a:lnTo>
                  <a:pt x="0" y="1113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028700" y="875220"/>
            <a:ext cx="11076413" cy="547370"/>
          </a:xfrm>
          <a:prstGeom prst="rect">
            <a:avLst/>
          </a:prstGeom>
        </p:spPr>
        <p:txBody>
          <a:bodyPr anchor="t" rtlCol="false" tIns="0" lIns="0" bIns="0" rIns="0">
            <a:spAutoFit/>
          </a:bodyPr>
          <a:lstStyle/>
          <a:p>
            <a:pPr algn="just">
              <a:lnSpc>
                <a:spcPts val="4239"/>
              </a:lnSpc>
            </a:pPr>
            <a:r>
              <a:rPr lang="en-US" b="true" sz="3999" spc="-107">
                <a:solidFill>
                  <a:srgbClr val="007076"/>
                </a:solidFill>
                <a:latin typeface="Montserrat Semi-Bold Bold"/>
                <a:ea typeface="Montserrat Semi-Bold Bold"/>
                <a:cs typeface="Montserrat Semi-Bold Bold"/>
                <a:sym typeface="Montserrat Semi-Bold Bold"/>
              </a:rPr>
              <a:t>SOCIAL CONSTRUCTIVISM</a:t>
            </a:r>
          </a:p>
        </p:txBody>
      </p:sp>
      <p:sp>
        <p:nvSpPr>
          <p:cNvPr name="TextBox 10" id="10"/>
          <p:cNvSpPr txBox="true"/>
          <p:nvPr/>
        </p:nvSpPr>
        <p:spPr>
          <a:xfrm rot="0">
            <a:off x="1004656" y="1441673"/>
            <a:ext cx="16498605" cy="6624448"/>
          </a:xfrm>
          <a:prstGeom prst="rect">
            <a:avLst/>
          </a:prstGeom>
        </p:spPr>
        <p:txBody>
          <a:bodyPr anchor="t" rtlCol="false" tIns="0" lIns="0" bIns="0" rIns="0">
            <a:spAutoFit/>
          </a:bodyPr>
          <a:lstStyle/>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Journaling</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Experiential activities</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Personal focus</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Collaborative &amp; cooperative learning</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Suggests that knowledge is neither given nor absolute</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Often seen as less rigorous than traditional approaches to instruction</a:t>
            </a:r>
          </a:p>
          <a:p>
            <a:pPr algn="just" marL="712468" indent="-356234" lvl="1">
              <a:lnSpc>
                <a:spcPts val="5873"/>
              </a:lnSpc>
              <a:buFont typeface="Arial"/>
              <a:buChar char="•"/>
            </a:pPr>
            <a:r>
              <a:rPr lang="en-US" b="true" sz="3299" spc="290">
                <a:solidFill>
                  <a:srgbClr val="007076"/>
                </a:solidFill>
                <a:latin typeface="Montserrat Bold"/>
                <a:ea typeface="Montserrat Bold"/>
                <a:cs typeface="Montserrat Bold"/>
                <a:sym typeface="Montserrat Bold"/>
              </a:rPr>
              <a:t>Does not fit well with traditional age grouping and rigid terms/semesters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0949D"/>
            </a:solidFill>
          </p:spPr>
        </p:sp>
        <p:sp>
          <p:nvSpPr>
            <p:cNvPr name="TextBox 5" id="5"/>
            <p:cNvSpPr txBox="true"/>
            <p:nvPr/>
          </p:nvSpPr>
          <p:spPr>
            <a:xfrm>
              <a:off x="0" y="-38100"/>
              <a:ext cx="240829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449602" y="616596"/>
            <a:ext cx="474985" cy="474985"/>
          </a:xfrm>
          <a:custGeom>
            <a:avLst/>
            <a:gdLst/>
            <a:ahLst/>
            <a:cxnLst/>
            <a:rect r="r" b="b" t="t" l="l"/>
            <a:pathLst>
              <a:path h="474985" w="474985">
                <a:moveTo>
                  <a:pt x="0" y="0"/>
                </a:moveTo>
                <a:lnTo>
                  <a:pt x="474985" y="0"/>
                </a:lnTo>
                <a:lnTo>
                  <a:pt x="474985" y="474985"/>
                </a:lnTo>
                <a:lnTo>
                  <a:pt x="0" y="4749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9395569" y="3383146"/>
            <a:ext cx="8666433" cy="2813871"/>
          </a:xfrm>
          <a:custGeom>
            <a:avLst/>
            <a:gdLst/>
            <a:ahLst/>
            <a:cxnLst/>
            <a:rect r="r" b="b" t="t" l="l"/>
            <a:pathLst>
              <a:path h="2813871" w="8666433">
                <a:moveTo>
                  <a:pt x="0" y="0"/>
                </a:moveTo>
                <a:lnTo>
                  <a:pt x="8666433" y="0"/>
                </a:lnTo>
                <a:lnTo>
                  <a:pt x="8666433" y="2813870"/>
                </a:lnTo>
                <a:lnTo>
                  <a:pt x="0" y="2813870"/>
                </a:lnTo>
                <a:lnTo>
                  <a:pt x="0" y="0"/>
                </a:lnTo>
                <a:close/>
              </a:path>
            </a:pathLst>
          </a:custGeom>
          <a:blipFill>
            <a:blip r:embed="rId13"/>
            <a:stretch>
              <a:fillRect l="-3049" t="0" r="-20648" b="0"/>
            </a:stretch>
          </a:blipFill>
        </p:spPr>
      </p:sp>
      <p:sp>
        <p:nvSpPr>
          <p:cNvPr name="TextBox 15" id="15"/>
          <p:cNvSpPr txBox="true"/>
          <p:nvPr/>
        </p:nvSpPr>
        <p:spPr>
          <a:xfrm rot="0">
            <a:off x="1296942" y="567349"/>
            <a:ext cx="6550115" cy="558592"/>
          </a:xfrm>
          <a:prstGeom prst="rect">
            <a:avLst/>
          </a:prstGeom>
        </p:spPr>
        <p:txBody>
          <a:bodyPr anchor="t" rtlCol="false" tIns="0" lIns="0" bIns="0" rIns="0">
            <a:spAutoFit/>
          </a:bodyPr>
          <a:lstStyle/>
          <a:p>
            <a:pPr algn="just">
              <a:lnSpc>
                <a:spcPts val="4341"/>
              </a:lnSpc>
            </a:pPr>
            <a:r>
              <a:rPr lang="en-US" b="true" sz="4095" spc="-110">
                <a:solidFill>
                  <a:srgbClr val="FFFFFF"/>
                </a:solidFill>
                <a:latin typeface="Montserrat Bold"/>
                <a:ea typeface="Montserrat Bold"/>
                <a:cs typeface="Montserrat Bold"/>
                <a:sym typeface="Montserrat Bold"/>
              </a:rPr>
              <a:t>Multiple Intelligences (MI)</a:t>
            </a:r>
          </a:p>
        </p:txBody>
      </p:sp>
      <p:sp>
        <p:nvSpPr>
          <p:cNvPr name="TextBox 16" id="16"/>
          <p:cNvSpPr txBox="true"/>
          <p:nvPr/>
        </p:nvSpPr>
        <p:spPr>
          <a:xfrm rot="0">
            <a:off x="449602" y="1721897"/>
            <a:ext cx="8244796" cy="7340854"/>
          </a:xfrm>
          <a:prstGeom prst="rect">
            <a:avLst/>
          </a:prstGeom>
        </p:spPr>
        <p:txBody>
          <a:bodyPr anchor="t" rtlCol="false" tIns="0" lIns="0" bIns="0" rIns="0">
            <a:spAutoFit/>
          </a:bodyPr>
          <a:lstStyle/>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Grew out of Constructivism, framed around metacognition</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H. Gardner (1983 to present)</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All people are born with eight intelligences:</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Enables students to leverage their strengths and purposefully target and develop their weaknesses</a:t>
            </a:r>
          </a:p>
          <a:p>
            <a:pPr algn="just">
              <a:lnSpc>
                <a:spcPts val="2968"/>
              </a:lnSpc>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2700000">
            <a:off x="7278105" y="4560546"/>
            <a:ext cx="16683427" cy="7187469"/>
            <a:chOff x="0" y="0"/>
            <a:chExt cx="4393989" cy="1892996"/>
          </a:xfrm>
        </p:grpSpPr>
        <p:sp>
          <p:nvSpPr>
            <p:cNvPr name="Freeform 5" id="5"/>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6" id="6"/>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77856"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28706" y="925830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28700" y="836168"/>
            <a:ext cx="7040027"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HOWARD GARDNER</a:t>
            </a:r>
          </a:p>
        </p:txBody>
      </p:sp>
      <p:sp>
        <p:nvSpPr>
          <p:cNvPr name="TextBox 11" id="11"/>
          <p:cNvSpPr txBox="true"/>
          <p:nvPr/>
        </p:nvSpPr>
        <p:spPr>
          <a:xfrm rot="0">
            <a:off x="1594081" y="2191958"/>
            <a:ext cx="15381044" cy="7087235"/>
          </a:xfrm>
          <a:prstGeom prst="rect">
            <a:avLst/>
          </a:prstGeom>
        </p:spPr>
        <p:txBody>
          <a:bodyPr anchor="t" rtlCol="false" tIns="0" lIns="0" bIns="0" rIns="0">
            <a:spAutoFit/>
          </a:bodyPr>
          <a:lstStyle/>
          <a:p>
            <a:pPr algn="just" marL="777237" indent="-388618" lvl="1">
              <a:lnSpc>
                <a:spcPts val="4823"/>
              </a:lnSpc>
              <a:buFont typeface="Arial"/>
              <a:buChar char="•"/>
            </a:pPr>
            <a:r>
              <a:rPr lang="en-US" sz="3599" spc="97">
                <a:solidFill>
                  <a:srgbClr val="007076"/>
                </a:solidFill>
                <a:latin typeface="Montserrat"/>
                <a:ea typeface="Montserrat"/>
                <a:cs typeface="Montserrat"/>
                <a:sym typeface="Montserrat"/>
              </a:rPr>
              <a:t>Gardner (2013) asserts that regardless of which subject you teach—“the arts, the sciences, history, or math”—you should present learning materials in multiple ways. Gardner goes on to point out that anything you are deeply familiar with “you can describe and convey … in several ways. We teachers discover that sometimes our own mastery of a topic is tenuous, when a student asks us to convey the knowledge in another way and we are stumped.” Thus, conveying information in multiple ways not only helps students learn the material, it also helps educators increase and reinforce our mastery of the content. </a:t>
            </a:r>
          </a:p>
          <a:p>
            <a:pPr algn="just">
              <a:lnSpc>
                <a:spcPts val="2756"/>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2700000">
            <a:off x="7278105" y="4560546"/>
            <a:ext cx="16683427" cy="7187469"/>
            <a:chOff x="0" y="0"/>
            <a:chExt cx="4393989" cy="1892996"/>
          </a:xfrm>
        </p:grpSpPr>
        <p:sp>
          <p:nvSpPr>
            <p:cNvPr name="Freeform 5" id="5"/>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6" id="6"/>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77856"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628706" y="9258300"/>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975125" y="9258300"/>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28700" y="836168"/>
            <a:ext cx="7040027"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HOWARD GARDNER</a:t>
            </a:r>
          </a:p>
        </p:txBody>
      </p:sp>
      <p:sp>
        <p:nvSpPr>
          <p:cNvPr name="TextBox 11" id="11"/>
          <p:cNvSpPr txBox="true"/>
          <p:nvPr/>
        </p:nvSpPr>
        <p:spPr>
          <a:xfrm rot="0">
            <a:off x="1180987" y="2077658"/>
            <a:ext cx="15381044" cy="3476625"/>
          </a:xfrm>
          <a:prstGeom prst="rect">
            <a:avLst/>
          </a:prstGeom>
        </p:spPr>
        <p:txBody>
          <a:bodyPr anchor="t" rtlCol="false" tIns="0" lIns="0" bIns="0" rIns="0">
            <a:spAutoFit/>
          </a:bodyPr>
          <a:lstStyle/>
          <a:p>
            <a:pPr algn="just" marL="712468" indent="-356234" lvl="1">
              <a:lnSpc>
                <a:spcPts val="5609"/>
              </a:lnSpc>
              <a:buFont typeface="Arial"/>
              <a:buChar char="•"/>
            </a:pPr>
            <a:r>
              <a:rPr lang="en-US" sz="3299" spc="-89">
                <a:solidFill>
                  <a:srgbClr val="007076"/>
                </a:solidFill>
                <a:latin typeface="Montserrat"/>
                <a:ea typeface="Montserrat"/>
                <a:cs typeface="Montserrat"/>
                <a:sym typeface="Montserrat"/>
              </a:rPr>
              <a:t>The theory of multiple intelligences was developed in 1983 by Dr. Howard Gardner, professor of education at Harvard University. It suggests that the traditional notion of intelligence, based on I.Q. testing, is far too limited. Instead, Dr. Gardner proposes eight different intelligences to account for a broader range of human potential in children and adults.</a:t>
            </a:r>
            <a:r>
              <a:rPr lang="en-US" sz="3299" spc="-89">
                <a:solidFill>
                  <a:srgbClr val="007076"/>
                </a:solidFill>
                <a:latin typeface="Montserrat"/>
                <a:ea typeface="Montserrat"/>
                <a:cs typeface="Montserrat"/>
                <a:sym typeface="Montserrat"/>
              </a:rPr>
              <a:t>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0949D"/>
            </a:solidFill>
          </p:spPr>
        </p:sp>
        <p:sp>
          <p:nvSpPr>
            <p:cNvPr name="TextBox 5" id="5"/>
            <p:cNvSpPr txBox="true"/>
            <p:nvPr/>
          </p:nvSpPr>
          <p:spPr>
            <a:xfrm>
              <a:off x="0" y="-38100"/>
              <a:ext cx="240829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53715" y="1147262"/>
            <a:ext cx="474985" cy="474985"/>
          </a:xfrm>
          <a:custGeom>
            <a:avLst/>
            <a:gdLst/>
            <a:ahLst/>
            <a:cxnLst/>
            <a:rect r="r" b="b" t="t" l="l"/>
            <a:pathLst>
              <a:path h="474985" w="474985">
                <a:moveTo>
                  <a:pt x="0" y="0"/>
                </a:moveTo>
                <a:lnTo>
                  <a:pt x="474985" y="0"/>
                </a:lnTo>
                <a:lnTo>
                  <a:pt x="474985" y="474985"/>
                </a:lnTo>
                <a:lnTo>
                  <a:pt x="0" y="4749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9515475" y="1091581"/>
            <a:ext cx="8399801" cy="7740547"/>
          </a:xfrm>
          <a:custGeom>
            <a:avLst/>
            <a:gdLst/>
            <a:ahLst/>
            <a:cxnLst/>
            <a:rect r="r" b="b" t="t" l="l"/>
            <a:pathLst>
              <a:path h="7740547" w="8399801">
                <a:moveTo>
                  <a:pt x="0" y="0"/>
                </a:moveTo>
                <a:lnTo>
                  <a:pt x="8399801" y="0"/>
                </a:lnTo>
                <a:lnTo>
                  <a:pt x="8399801" y="7740548"/>
                </a:lnTo>
                <a:lnTo>
                  <a:pt x="0" y="7740548"/>
                </a:lnTo>
                <a:lnTo>
                  <a:pt x="0" y="0"/>
                </a:lnTo>
                <a:close/>
              </a:path>
            </a:pathLst>
          </a:custGeom>
          <a:blipFill>
            <a:blip r:embed="rId13"/>
            <a:stretch>
              <a:fillRect l="0" t="0" r="0" b="0"/>
            </a:stretch>
          </a:blipFill>
        </p:spPr>
      </p:sp>
      <p:sp>
        <p:nvSpPr>
          <p:cNvPr name="TextBox 15" id="15"/>
          <p:cNvSpPr txBox="true"/>
          <p:nvPr/>
        </p:nvSpPr>
        <p:spPr>
          <a:xfrm rot="0">
            <a:off x="1296942" y="1148731"/>
            <a:ext cx="6550115" cy="558592"/>
          </a:xfrm>
          <a:prstGeom prst="rect">
            <a:avLst/>
          </a:prstGeom>
        </p:spPr>
        <p:txBody>
          <a:bodyPr anchor="t" rtlCol="false" tIns="0" lIns="0" bIns="0" rIns="0">
            <a:spAutoFit/>
          </a:bodyPr>
          <a:lstStyle/>
          <a:p>
            <a:pPr algn="just">
              <a:lnSpc>
                <a:spcPts val="4341"/>
              </a:lnSpc>
            </a:pPr>
            <a:r>
              <a:rPr lang="en-US" b="true" sz="4095" spc="-110">
                <a:solidFill>
                  <a:srgbClr val="FFFFFF"/>
                </a:solidFill>
                <a:latin typeface="Montserrat Bold"/>
                <a:ea typeface="Montserrat Bold"/>
                <a:cs typeface="Montserrat Bold"/>
                <a:sym typeface="Montserrat Bold"/>
              </a:rPr>
              <a:t>Multiple Intelligences (MI)</a:t>
            </a:r>
          </a:p>
        </p:txBody>
      </p:sp>
      <p:sp>
        <p:nvSpPr>
          <p:cNvPr name="TextBox 16" id="16"/>
          <p:cNvSpPr txBox="true"/>
          <p:nvPr/>
        </p:nvSpPr>
        <p:spPr>
          <a:xfrm rot="0">
            <a:off x="449602" y="2041719"/>
            <a:ext cx="8244796" cy="4769104"/>
          </a:xfrm>
          <a:prstGeom prst="rect">
            <a:avLst/>
          </a:prstGeom>
        </p:spPr>
        <p:txBody>
          <a:bodyPr anchor="t" rtlCol="false" tIns="0" lIns="0" bIns="0" rIns="0">
            <a:spAutoFit/>
          </a:bodyPr>
          <a:lstStyle/>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Delivery of instruction via multiple mediums</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Student-centered classroom</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Authentic Assessment</a:t>
            </a:r>
          </a:p>
          <a:p>
            <a:pPr algn="just" marL="712468" indent="-356234" lvl="1">
              <a:lnSpc>
                <a:spcPts val="6797"/>
              </a:lnSpc>
              <a:buFont typeface="Arial"/>
              <a:buChar char="•"/>
            </a:pPr>
            <a:r>
              <a:rPr lang="en-US" b="true" sz="3299" spc="-89">
                <a:solidFill>
                  <a:srgbClr val="FFFFFF"/>
                </a:solidFill>
                <a:latin typeface="Montserrat Bold"/>
                <a:ea typeface="Montserrat Bold"/>
                <a:cs typeface="Montserrat Bold"/>
                <a:sym typeface="Montserrat Bold"/>
              </a:rPr>
              <a:t>Self-directed learning</a:t>
            </a:r>
          </a:p>
          <a:p>
            <a:pPr algn="just">
              <a:lnSpc>
                <a:spcPts val="2968"/>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724649" y="3934449"/>
            <a:ext cx="4186158" cy="3215649"/>
          </a:xfrm>
          <a:custGeom>
            <a:avLst/>
            <a:gdLst/>
            <a:ahLst/>
            <a:cxnLst/>
            <a:rect r="r" b="b" t="t" l="l"/>
            <a:pathLst>
              <a:path h="3215649" w="4186158">
                <a:moveTo>
                  <a:pt x="0" y="0"/>
                </a:moveTo>
                <a:lnTo>
                  <a:pt x="4186158" y="0"/>
                </a:lnTo>
                <a:lnTo>
                  <a:pt x="4186158" y="3215649"/>
                </a:lnTo>
                <a:lnTo>
                  <a:pt x="0" y="32156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75407" y="1938972"/>
            <a:ext cx="12549242" cy="7319328"/>
          </a:xfrm>
          <a:prstGeom prst="rect">
            <a:avLst/>
          </a:prstGeom>
        </p:spPr>
        <p:txBody>
          <a:bodyPr anchor="t" rtlCol="false" tIns="0" lIns="0" bIns="0" rIns="0">
            <a:spAutoFit/>
          </a:bodyPr>
          <a:lstStyle/>
          <a:p>
            <a:pPr algn="l">
              <a:lnSpc>
                <a:spcPts val="5949"/>
              </a:lnSpc>
            </a:pPr>
            <a:r>
              <a:rPr lang="en-US" sz="3499" spc="136">
                <a:solidFill>
                  <a:srgbClr val="007076"/>
                </a:solidFill>
                <a:latin typeface="Montserrat"/>
                <a:ea typeface="Montserrat"/>
                <a:cs typeface="Montserrat"/>
                <a:sym typeface="Montserrat"/>
              </a:rPr>
              <a:t>1.Linguistic intelligence (“word smart”)</a:t>
            </a:r>
          </a:p>
          <a:p>
            <a:pPr algn="l">
              <a:lnSpc>
                <a:spcPts val="5949"/>
              </a:lnSpc>
            </a:pPr>
            <a:r>
              <a:rPr lang="en-US" sz="3499" spc="136">
                <a:solidFill>
                  <a:srgbClr val="007076"/>
                </a:solidFill>
                <a:latin typeface="Montserrat"/>
                <a:ea typeface="Montserrat"/>
                <a:cs typeface="Montserrat"/>
                <a:sym typeface="Montserrat"/>
              </a:rPr>
              <a:t>2.Logical-mathematical intelligence (“number/reasoning smart”)</a:t>
            </a:r>
          </a:p>
          <a:p>
            <a:pPr algn="l">
              <a:lnSpc>
                <a:spcPts val="5949"/>
              </a:lnSpc>
            </a:pPr>
            <a:r>
              <a:rPr lang="en-US" sz="3499" spc="136">
                <a:solidFill>
                  <a:srgbClr val="007076"/>
                </a:solidFill>
                <a:latin typeface="Montserrat"/>
                <a:ea typeface="Montserrat"/>
                <a:cs typeface="Montserrat"/>
                <a:sym typeface="Montserrat"/>
              </a:rPr>
              <a:t>3.Spatial intelligence (“picture smart”)</a:t>
            </a:r>
          </a:p>
          <a:p>
            <a:pPr algn="l">
              <a:lnSpc>
                <a:spcPts val="5949"/>
              </a:lnSpc>
            </a:pPr>
            <a:r>
              <a:rPr lang="en-US" sz="3499" spc="136">
                <a:solidFill>
                  <a:srgbClr val="007076"/>
                </a:solidFill>
                <a:latin typeface="Montserrat"/>
                <a:ea typeface="Montserrat"/>
                <a:cs typeface="Montserrat"/>
                <a:sym typeface="Montserrat"/>
              </a:rPr>
              <a:t>4.Bodily-Kinesthetic intelligence (“body smart”)</a:t>
            </a:r>
          </a:p>
          <a:p>
            <a:pPr algn="l">
              <a:lnSpc>
                <a:spcPts val="5949"/>
              </a:lnSpc>
            </a:pPr>
            <a:r>
              <a:rPr lang="en-US" sz="3499" spc="136">
                <a:solidFill>
                  <a:srgbClr val="007076"/>
                </a:solidFill>
                <a:latin typeface="Montserrat"/>
                <a:ea typeface="Montserrat"/>
                <a:cs typeface="Montserrat"/>
                <a:sym typeface="Montserrat"/>
              </a:rPr>
              <a:t>5.Musical intelligence (“music smart”)</a:t>
            </a:r>
          </a:p>
          <a:p>
            <a:pPr algn="l">
              <a:lnSpc>
                <a:spcPts val="5949"/>
              </a:lnSpc>
            </a:pPr>
            <a:r>
              <a:rPr lang="en-US" sz="3499" spc="136">
                <a:solidFill>
                  <a:srgbClr val="007076"/>
                </a:solidFill>
                <a:latin typeface="Montserrat"/>
                <a:ea typeface="Montserrat"/>
                <a:cs typeface="Montserrat"/>
                <a:sym typeface="Montserrat"/>
              </a:rPr>
              <a:t>6.Interpersonal intelligence (“people smart”)</a:t>
            </a:r>
          </a:p>
          <a:p>
            <a:pPr algn="l">
              <a:lnSpc>
                <a:spcPts val="5949"/>
              </a:lnSpc>
            </a:pPr>
            <a:r>
              <a:rPr lang="en-US" sz="3499" spc="136">
                <a:solidFill>
                  <a:srgbClr val="007076"/>
                </a:solidFill>
                <a:latin typeface="Montserrat"/>
                <a:ea typeface="Montserrat"/>
                <a:cs typeface="Montserrat"/>
                <a:sym typeface="Montserrat"/>
              </a:rPr>
              <a:t>7.Intrapersonal intelligence (“self smart”)</a:t>
            </a:r>
          </a:p>
          <a:p>
            <a:pPr algn="l">
              <a:lnSpc>
                <a:spcPts val="5949"/>
              </a:lnSpc>
            </a:pPr>
            <a:r>
              <a:rPr lang="en-US" sz="3499" spc="136">
                <a:solidFill>
                  <a:srgbClr val="007076"/>
                </a:solidFill>
                <a:latin typeface="Montserrat"/>
                <a:ea typeface="Montserrat"/>
                <a:cs typeface="Montserrat"/>
                <a:sym typeface="Montserrat"/>
              </a:rPr>
              <a:t>8.Naturalist intelligence (“nature smart”)</a:t>
            </a:r>
          </a:p>
          <a:p>
            <a:pPr algn="l">
              <a:lnSpc>
                <a:spcPts val="3794"/>
              </a:lnSpc>
              <a:spcBef>
                <a:spcPct val="0"/>
              </a:spcBef>
            </a:pPr>
          </a:p>
        </p:txBody>
      </p:sp>
      <p:sp>
        <p:nvSpPr>
          <p:cNvPr name="TextBox 9" id="9"/>
          <p:cNvSpPr txBox="true"/>
          <p:nvPr/>
        </p:nvSpPr>
        <p:spPr>
          <a:xfrm rot="0">
            <a:off x="684405" y="473253"/>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MULTIPLE INTELLIGENCES (MI)</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B2B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75681" y="2082139"/>
            <a:ext cx="6129724" cy="6122721"/>
            <a:chOff x="0" y="0"/>
            <a:chExt cx="8172966" cy="8163628"/>
          </a:xfrm>
        </p:grpSpPr>
        <p:pic>
          <p:nvPicPr>
            <p:cNvPr name="Picture 7" id="7"/>
            <p:cNvPicPr>
              <a:picLocks noChangeAspect="true"/>
            </p:cNvPicPr>
            <p:nvPr/>
          </p:nvPicPr>
          <p:blipFill>
            <a:blip r:embed="rId3"/>
            <a:srcRect l="30492" t="0" r="30492" b="0"/>
            <a:stretch>
              <a:fillRect/>
            </a:stretch>
          </p:blipFill>
          <p:spPr>
            <a:xfrm flipH="false" flipV="false">
              <a:off x="0" y="0"/>
              <a:ext cx="8172966" cy="8163628"/>
            </a:xfrm>
            <a:prstGeom prst="rect">
              <a:avLst/>
            </a:prstGeom>
          </p:spPr>
        </p:pic>
      </p:grpSp>
      <p:sp>
        <p:nvSpPr>
          <p:cNvPr name="Freeform 8" id="8"/>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2700000">
            <a:off x="7278105" y="4560546"/>
            <a:ext cx="16683427" cy="7187469"/>
            <a:chOff x="0" y="0"/>
            <a:chExt cx="4393989" cy="1892996"/>
          </a:xfrm>
        </p:grpSpPr>
        <p:sp>
          <p:nvSpPr>
            <p:cNvPr name="Freeform 10" id="10"/>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11" id="11"/>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8131309" y="2082139"/>
            <a:ext cx="9127991" cy="6122721"/>
            <a:chOff x="0" y="0"/>
            <a:chExt cx="14544035" cy="9755605"/>
          </a:xfrm>
        </p:grpSpPr>
        <p:sp>
          <p:nvSpPr>
            <p:cNvPr name="Freeform 16" id="16"/>
            <p:cNvSpPr/>
            <p:nvPr/>
          </p:nvSpPr>
          <p:spPr>
            <a:xfrm flipH="false" flipV="false" rot="0">
              <a:off x="0" y="0"/>
              <a:ext cx="14544035" cy="9755605"/>
            </a:xfrm>
            <a:custGeom>
              <a:avLst/>
              <a:gdLst/>
              <a:ahLst/>
              <a:cxnLst/>
              <a:rect r="r" b="b" t="t" l="l"/>
              <a:pathLst>
                <a:path h="9755605" w="1454403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solidFill>
              <a:srgbClr val="00B2BD"/>
            </a:solidFill>
          </p:spPr>
        </p:sp>
      </p:grpSp>
      <p:sp>
        <p:nvSpPr>
          <p:cNvPr name="TextBox 17" id="17"/>
          <p:cNvSpPr txBox="true"/>
          <p:nvPr/>
        </p:nvSpPr>
        <p:spPr>
          <a:xfrm rot="0">
            <a:off x="8354736" y="2373596"/>
            <a:ext cx="8762477" cy="2044700"/>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CRITIQUES OF MULTIPLE INTELLIGENCE</a:t>
            </a:r>
          </a:p>
        </p:txBody>
      </p:sp>
      <p:sp>
        <p:nvSpPr>
          <p:cNvPr name="TextBox 18" id="18"/>
          <p:cNvSpPr txBox="true"/>
          <p:nvPr/>
        </p:nvSpPr>
        <p:spPr>
          <a:xfrm rot="0">
            <a:off x="8540417" y="4632952"/>
            <a:ext cx="8391115" cy="3645662"/>
          </a:xfrm>
          <a:prstGeom prst="rect">
            <a:avLst/>
          </a:prstGeom>
        </p:spPr>
        <p:txBody>
          <a:bodyPr anchor="t" rtlCol="false" tIns="0" lIns="0" bIns="0" rIns="0">
            <a:spAutoFit/>
          </a:bodyPr>
          <a:lstStyle/>
          <a:p>
            <a:pPr algn="just" marL="712468" indent="-356234" lvl="1">
              <a:lnSpc>
                <a:spcPts val="4223"/>
              </a:lnSpc>
              <a:buFont typeface="Arial"/>
              <a:buChar char="•"/>
            </a:pPr>
            <a:r>
              <a:rPr lang="en-US" sz="3299" spc="-250">
                <a:solidFill>
                  <a:srgbClr val="007076"/>
                </a:solidFill>
                <a:latin typeface="Montserrat"/>
                <a:ea typeface="Montserrat"/>
                <a:cs typeface="Montserrat"/>
                <a:sym typeface="Montserrat"/>
              </a:rPr>
              <a:t>Lack of quantifiable evidence that MI exist</a:t>
            </a:r>
          </a:p>
          <a:p>
            <a:pPr algn="just" marL="712468" indent="-356234" lvl="1">
              <a:lnSpc>
                <a:spcPts val="4223"/>
              </a:lnSpc>
              <a:buFont typeface="Arial"/>
              <a:buChar char="•"/>
            </a:pPr>
            <a:r>
              <a:rPr lang="en-US" sz="3299" spc="-250">
                <a:solidFill>
                  <a:srgbClr val="007076"/>
                </a:solidFill>
                <a:latin typeface="Montserrat"/>
                <a:ea typeface="Montserrat"/>
                <a:cs typeface="Montserrat"/>
                <a:sym typeface="Montserrat"/>
              </a:rPr>
              <a:t>Lack of evidence that use of MI as a curricular and methodological approach has any discernable impact on learning</a:t>
            </a:r>
          </a:p>
          <a:p>
            <a:pPr algn="just" marL="712468" indent="-356234" lvl="1">
              <a:lnSpc>
                <a:spcPts val="4223"/>
              </a:lnSpc>
              <a:buFont typeface="Arial"/>
              <a:buChar char="•"/>
            </a:pPr>
            <a:r>
              <a:rPr lang="en-US" sz="3299" spc="-250">
                <a:solidFill>
                  <a:srgbClr val="007076"/>
                </a:solidFill>
                <a:latin typeface="Montserrat"/>
                <a:ea typeface="Montserrat"/>
                <a:cs typeface="Montserrat"/>
                <a:sym typeface="Montserrat"/>
              </a:rPr>
              <a:t>Suggestive of a departure from core curricula and standards</a:t>
            </a:r>
          </a:p>
          <a:p>
            <a:pPr algn="just">
              <a:lnSpc>
                <a:spcPts val="3584"/>
              </a:lnSpc>
            </a:pPr>
          </a:p>
        </p:txBody>
      </p:sp>
      <p:grpSp>
        <p:nvGrpSpPr>
          <p:cNvPr name="Group 19" id="19"/>
          <p:cNvGrpSpPr/>
          <p:nvPr/>
        </p:nvGrpSpPr>
        <p:grpSpPr>
          <a:xfrm rot="0">
            <a:off x="1875681" y="2082139"/>
            <a:ext cx="6129724" cy="6072141"/>
            <a:chOff x="0" y="0"/>
            <a:chExt cx="8172966" cy="8096189"/>
          </a:xfrm>
        </p:grpSpPr>
        <p:pic>
          <p:nvPicPr>
            <p:cNvPr name="Picture 20" id="20"/>
            <p:cNvPicPr>
              <a:picLocks noChangeAspect="true"/>
            </p:cNvPicPr>
            <p:nvPr/>
          </p:nvPicPr>
          <p:blipFill>
            <a:blip r:embed="rId12"/>
            <a:srcRect l="0" t="9961" r="0" b="25525"/>
            <a:stretch>
              <a:fillRect/>
            </a:stretch>
          </p:blipFill>
          <p:spPr>
            <a:xfrm flipH="false" flipV="false">
              <a:off x="0" y="0"/>
              <a:ext cx="8172966" cy="8096189"/>
            </a:xfrm>
            <a:prstGeom prst="rect">
              <a:avLst/>
            </a:prstGeom>
          </p:spPr>
        </p:pic>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0949D"/>
            </a:solidFill>
          </p:spPr>
        </p:sp>
        <p:sp>
          <p:nvSpPr>
            <p:cNvPr name="TextBox 5" id="5"/>
            <p:cNvSpPr txBox="true"/>
            <p:nvPr/>
          </p:nvSpPr>
          <p:spPr>
            <a:xfrm>
              <a:off x="0" y="-38100"/>
              <a:ext cx="240829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53715" y="1147262"/>
            <a:ext cx="474985" cy="474985"/>
          </a:xfrm>
          <a:custGeom>
            <a:avLst/>
            <a:gdLst/>
            <a:ahLst/>
            <a:cxnLst/>
            <a:rect r="r" b="b" t="t" l="l"/>
            <a:pathLst>
              <a:path h="474985" w="474985">
                <a:moveTo>
                  <a:pt x="0" y="0"/>
                </a:moveTo>
                <a:lnTo>
                  <a:pt x="474985" y="0"/>
                </a:lnTo>
                <a:lnTo>
                  <a:pt x="474985" y="474985"/>
                </a:lnTo>
                <a:lnTo>
                  <a:pt x="0" y="4749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9434328" y="1707324"/>
            <a:ext cx="5154380" cy="3436176"/>
          </a:xfrm>
          <a:custGeom>
            <a:avLst/>
            <a:gdLst/>
            <a:ahLst/>
            <a:cxnLst/>
            <a:rect r="r" b="b" t="t" l="l"/>
            <a:pathLst>
              <a:path h="3436176" w="5154380">
                <a:moveTo>
                  <a:pt x="0" y="0"/>
                </a:moveTo>
                <a:lnTo>
                  <a:pt x="5154380" y="0"/>
                </a:lnTo>
                <a:lnTo>
                  <a:pt x="5154380" y="3436176"/>
                </a:lnTo>
                <a:lnTo>
                  <a:pt x="0" y="3436176"/>
                </a:lnTo>
                <a:lnTo>
                  <a:pt x="0" y="0"/>
                </a:lnTo>
                <a:close/>
              </a:path>
            </a:pathLst>
          </a:custGeom>
          <a:blipFill>
            <a:blip r:embed="rId13"/>
            <a:stretch>
              <a:fillRect l="-8103" t="0" r="-139922" b="0"/>
            </a:stretch>
          </a:blipFill>
        </p:spPr>
      </p:sp>
      <p:sp>
        <p:nvSpPr>
          <p:cNvPr name="TextBox 15" id="15"/>
          <p:cNvSpPr txBox="true"/>
          <p:nvPr/>
        </p:nvSpPr>
        <p:spPr>
          <a:xfrm rot="0">
            <a:off x="1296942" y="1148731"/>
            <a:ext cx="7239939" cy="558592"/>
          </a:xfrm>
          <a:prstGeom prst="rect">
            <a:avLst/>
          </a:prstGeom>
        </p:spPr>
        <p:txBody>
          <a:bodyPr anchor="t" rtlCol="false" tIns="0" lIns="0" bIns="0" rIns="0">
            <a:spAutoFit/>
          </a:bodyPr>
          <a:lstStyle/>
          <a:p>
            <a:pPr algn="just">
              <a:lnSpc>
                <a:spcPts val="4341"/>
              </a:lnSpc>
            </a:pPr>
            <a:r>
              <a:rPr lang="en-US" b="true" sz="4095" spc="-110">
                <a:solidFill>
                  <a:srgbClr val="FFFFFF"/>
                </a:solidFill>
                <a:latin typeface="Montserrat Bold"/>
                <a:ea typeface="Montserrat Bold"/>
                <a:cs typeface="Montserrat Bold"/>
                <a:sym typeface="Montserrat Bold"/>
              </a:rPr>
              <a:t>Brain-Based Learning (BBL)</a:t>
            </a:r>
          </a:p>
        </p:txBody>
      </p:sp>
      <p:sp>
        <p:nvSpPr>
          <p:cNvPr name="TextBox 16" id="16"/>
          <p:cNvSpPr txBox="true"/>
          <p:nvPr/>
        </p:nvSpPr>
        <p:spPr>
          <a:xfrm rot="0">
            <a:off x="553715" y="2398512"/>
            <a:ext cx="8244796" cy="3765804"/>
          </a:xfrm>
          <a:prstGeom prst="rect">
            <a:avLst/>
          </a:prstGeom>
        </p:spPr>
        <p:txBody>
          <a:bodyPr anchor="t" rtlCol="false" tIns="0" lIns="0" bIns="0" rIns="0">
            <a:spAutoFit/>
          </a:bodyPr>
          <a:lstStyle/>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Grew out of Neuroscience &amp; Constructivism</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D. Souza, N. Caine &amp; G. Caine, E. Jensen (1980’s to present)</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12 governing principles</a:t>
            </a:r>
          </a:p>
          <a:p>
            <a:pPr algn="just">
              <a:lnSpc>
                <a:spcPts val="4368"/>
              </a:lnSpc>
            </a:pPr>
          </a:p>
        </p:txBody>
      </p:sp>
      <p:sp>
        <p:nvSpPr>
          <p:cNvPr name="Freeform 17" id="17"/>
          <p:cNvSpPr/>
          <p:nvPr/>
        </p:nvSpPr>
        <p:spPr>
          <a:xfrm flipH="false" flipV="false" rot="0">
            <a:off x="9434328" y="4858680"/>
            <a:ext cx="6800997" cy="3466449"/>
          </a:xfrm>
          <a:custGeom>
            <a:avLst/>
            <a:gdLst/>
            <a:ahLst/>
            <a:cxnLst/>
            <a:rect r="r" b="b" t="t" l="l"/>
            <a:pathLst>
              <a:path h="3466449" w="6800997">
                <a:moveTo>
                  <a:pt x="0" y="0"/>
                </a:moveTo>
                <a:lnTo>
                  <a:pt x="6800998" y="0"/>
                </a:lnTo>
                <a:lnTo>
                  <a:pt x="6800998" y="3466448"/>
                </a:lnTo>
                <a:lnTo>
                  <a:pt x="0" y="3466448"/>
                </a:lnTo>
                <a:lnTo>
                  <a:pt x="0" y="0"/>
                </a:lnTo>
                <a:close/>
              </a:path>
            </a:pathLst>
          </a:custGeom>
          <a:blipFill>
            <a:blip r:embed="rId13"/>
            <a:stretch>
              <a:fillRect l="-85500" t="0" r="-413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0949D"/>
            </a:solidFill>
          </p:spPr>
        </p:sp>
        <p:sp>
          <p:nvSpPr>
            <p:cNvPr name="TextBox 5" id="5"/>
            <p:cNvSpPr txBox="true"/>
            <p:nvPr/>
          </p:nvSpPr>
          <p:spPr>
            <a:xfrm>
              <a:off x="0" y="-38100"/>
              <a:ext cx="240829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700000">
            <a:off x="7278105" y="4560546"/>
            <a:ext cx="16683427" cy="7187469"/>
            <a:chOff x="0" y="0"/>
            <a:chExt cx="4393989" cy="1892996"/>
          </a:xfrm>
        </p:grpSpPr>
        <p:sp>
          <p:nvSpPr>
            <p:cNvPr name="Freeform 7" id="7"/>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8" id="8"/>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35326" y="8974125"/>
            <a:ext cx="284175" cy="284175"/>
          </a:xfrm>
          <a:custGeom>
            <a:avLst/>
            <a:gdLst/>
            <a:ahLst/>
            <a:cxnLst/>
            <a:rect r="r" b="b" t="t" l="l"/>
            <a:pathLst>
              <a:path h="284175" w="284175">
                <a:moveTo>
                  <a:pt x="0" y="0"/>
                </a:moveTo>
                <a:lnTo>
                  <a:pt x="284174" y="0"/>
                </a:lnTo>
                <a:lnTo>
                  <a:pt x="284174" y="284175"/>
                </a:lnTo>
                <a:lnTo>
                  <a:pt x="0" y="284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6052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975125" y="8974125"/>
            <a:ext cx="284175" cy="284175"/>
          </a:xfrm>
          <a:custGeom>
            <a:avLst/>
            <a:gdLst/>
            <a:ahLst/>
            <a:cxnLst/>
            <a:rect r="r" b="b" t="t" l="l"/>
            <a:pathLst>
              <a:path h="284175" w="284175">
                <a:moveTo>
                  <a:pt x="0" y="0"/>
                </a:moveTo>
                <a:lnTo>
                  <a:pt x="284175" y="0"/>
                </a:lnTo>
                <a:lnTo>
                  <a:pt x="284175" y="284175"/>
                </a:lnTo>
                <a:lnTo>
                  <a:pt x="0" y="284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53715" y="1147262"/>
            <a:ext cx="474985" cy="474985"/>
          </a:xfrm>
          <a:custGeom>
            <a:avLst/>
            <a:gdLst/>
            <a:ahLst/>
            <a:cxnLst/>
            <a:rect r="r" b="b" t="t" l="l"/>
            <a:pathLst>
              <a:path h="474985" w="474985">
                <a:moveTo>
                  <a:pt x="0" y="0"/>
                </a:moveTo>
                <a:lnTo>
                  <a:pt x="474985" y="0"/>
                </a:lnTo>
                <a:lnTo>
                  <a:pt x="474985" y="474985"/>
                </a:lnTo>
                <a:lnTo>
                  <a:pt x="0" y="4749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9363473" y="1707324"/>
            <a:ext cx="6634638" cy="5930346"/>
          </a:xfrm>
          <a:custGeom>
            <a:avLst/>
            <a:gdLst/>
            <a:ahLst/>
            <a:cxnLst/>
            <a:rect r="r" b="b" t="t" l="l"/>
            <a:pathLst>
              <a:path h="5930346" w="6634638">
                <a:moveTo>
                  <a:pt x="0" y="0"/>
                </a:moveTo>
                <a:lnTo>
                  <a:pt x="6634638" y="0"/>
                </a:lnTo>
                <a:lnTo>
                  <a:pt x="6634638" y="5930345"/>
                </a:lnTo>
                <a:lnTo>
                  <a:pt x="0" y="5930345"/>
                </a:lnTo>
                <a:lnTo>
                  <a:pt x="0" y="0"/>
                </a:lnTo>
                <a:close/>
              </a:path>
            </a:pathLst>
          </a:custGeom>
          <a:blipFill>
            <a:blip r:embed="rId13"/>
            <a:stretch>
              <a:fillRect l="0" t="0" r="0" b="0"/>
            </a:stretch>
          </a:blipFill>
        </p:spPr>
      </p:sp>
      <p:sp>
        <p:nvSpPr>
          <p:cNvPr name="TextBox 15" id="15"/>
          <p:cNvSpPr txBox="true"/>
          <p:nvPr/>
        </p:nvSpPr>
        <p:spPr>
          <a:xfrm rot="0">
            <a:off x="1296942" y="1148731"/>
            <a:ext cx="7239939" cy="558592"/>
          </a:xfrm>
          <a:prstGeom prst="rect">
            <a:avLst/>
          </a:prstGeom>
        </p:spPr>
        <p:txBody>
          <a:bodyPr anchor="t" rtlCol="false" tIns="0" lIns="0" bIns="0" rIns="0">
            <a:spAutoFit/>
          </a:bodyPr>
          <a:lstStyle/>
          <a:p>
            <a:pPr algn="just">
              <a:lnSpc>
                <a:spcPts val="4341"/>
              </a:lnSpc>
            </a:pPr>
            <a:r>
              <a:rPr lang="en-US" b="true" sz="4095" spc="-110">
                <a:solidFill>
                  <a:srgbClr val="FFFFFF"/>
                </a:solidFill>
                <a:latin typeface="Montserrat Bold"/>
                <a:ea typeface="Montserrat Bold"/>
                <a:cs typeface="Montserrat Bold"/>
                <a:sym typeface="Montserrat Bold"/>
              </a:rPr>
              <a:t>Brain-Based Learning (BBL)</a:t>
            </a:r>
          </a:p>
        </p:txBody>
      </p:sp>
      <p:sp>
        <p:nvSpPr>
          <p:cNvPr name="TextBox 16" id="16"/>
          <p:cNvSpPr txBox="true"/>
          <p:nvPr/>
        </p:nvSpPr>
        <p:spPr>
          <a:xfrm rot="0">
            <a:off x="553715" y="2398512"/>
            <a:ext cx="8244796" cy="5061204"/>
          </a:xfrm>
          <a:prstGeom prst="rect">
            <a:avLst/>
          </a:prstGeom>
        </p:spPr>
        <p:txBody>
          <a:bodyPr anchor="t" rtlCol="false" tIns="0" lIns="0" bIns="0" rIns="0">
            <a:spAutoFit/>
          </a:bodyPr>
          <a:lstStyle/>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Opportunities for group learning</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Regular environmental changes</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A multi-sensory environment </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Opportunities for self-expression and making personal connections to content</a:t>
            </a:r>
          </a:p>
          <a:p>
            <a:pPr algn="just" marL="712468" indent="-356234" lvl="1">
              <a:lnSpc>
                <a:spcPts val="5147"/>
              </a:lnSpc>
              <a:buFont typeface="Arial"/>
              <a:buChar char="•"/>
            </a:pPr>
            <a:r>
              <a:rPr lang="en-US" b="true" sz="3299" spc="-214">
                <a:solidFill>
                  <a:srgbClr val="FFFFFF"/>
                </a:solidFill>
                <a:latin typeface="Montserrat Bold"/>
                <a:ea typeface="Montserrat Bold"/>
                <a:cs typeface="Montserrat Bold"/>
                <a:sym typeface="Montserrat Bold"/>
              </a:rPr>
              <a:t>Community-based learning</a:t>
            </a:r>
          </a:p>
          <a:p>
            <a:pPr algn="just">
              <a:lnSpc>
                <a:spcPts val="4368"/>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98214" y="1964521"/>
            <a:ext cx="12549242" cy="5061903"/>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Research conducted by neuroscientists, not teachers &amp; educational researchers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Lack of understanding of the brain itself makes “brain-based” learning questionable</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Individual principles have been scientifically questioned</a:t>
            </a:r>
          </a:p>
          <a:p>
            <a:pPr algn="l">
              <a:lnSpc>
                <a:spcPts val="3794"/>
              </a:lnSpc>
              <a:spcBef>
                <a:spcPct val="0"/>
              </a:spcBef>
            </a:pPr>
          </a:p>
        </p:txBody>
      </p:sp>
      <p:sp>
        <p:nvSpPr>
          <p:cNvPr name="TextBox 8" id="8"/>
          <p:cNvSpPr txBox="true"/>
          <p:nvPr/>
        </p:nvSpPr>
        <p:spPr>
          <a:xfrm rot="0">
            <a:off x="684405" y="473253"/>
            <a:ext cx="11834068"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CRITIQUES OF BBL</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98214" y="2903061"/>
            <a:ext cx="12549242" cy="4309428"/>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Andragogy (M. Knowles)</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Flow (M. Czikszentmihalyi)</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Situated Learning (J. Lave)</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Subsumption Theory (D. Ausubel)</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Conditions of Learning (R. Gagne)</a:t>
            </a:r>
          </a:p>
          <a:p>
            <a:pPr algn="l">
              <a:lnSpc>
                <a:spcPts val="3794"/>
              </a:lnSpc>
              <a:spcBef>
                <a:spcPct val="0"/>
              </a:spcBef>
            </a:pPr>
          </a:p>
        </p:txBody>
      </p:sp>
      <p:sp>
        <p:nvSpPr>
          <p:cNvPr name="TextBox 8" id="8"/>
          <p:cNvSpPr txBox="true"/>
          <p:nvPr/>
        </p:nvSpPr>
        <p:spPr>
          <a:xfrm rot="0">
            <a:off x="798214" y="473253"/>
            <a:ext cx="12549242" cy="2044700"/>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OTHER LEARNING</a:t>
            </a:r>
          </a:p>
          <a:p>
            <a:pPr algn="l">
              <a:lnSpc>
                <a:spcPts val="8049"/>
              </a:lnSpc>
            </a:pPr>
            <a:r>
              <a:rPr lang="en-US" sz="6999" spc="272">
                <a:solidFill>
                  <a:srgbClr val="007076"/>
                </a:solidFill>
                <a:latin typeface="Anton"/>
                <a:ea typeface="Anton"/>
                <a:cs typeface="Anton"/>
                <a:sym typeface="Anton"/>
              </a:rPr>
              <a:t>THEORIES OF NOTE</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0">
            <a:off x="13347457" y="0"/>
            <a:ext cx="4940543" cy="10287000"/>
            <a:chOff x="0" y="0"/>
            <a:chExt cx="1301213" cy="2709333"/>
          </a:xfrm>
        </p:grpSpPr>
        <p:sp>
          <p:nvSpPr>
            <p:cNvPr name="Freeform 4" id="4"/>
            <p:cNvSpPr/>
            <p:nvPr/>
          </p:nvSpPr>
          <p:spPr>
            <a:xfrm flipH="false" flipV="false" rot="0">
              <a:off x="0" y="0"/>
              <a:ext cx="1301213" cy="2709333"/>
            </a:xfrm>
            <a:custGeom>
              <a:avLst/>
              <a:gdLst/>
              <a:ahLst/>
              <a:cxnLst/>
              <a:rect r="r" b="b" t="t" l="l"/>
              <a:pathLst>
                <a:path h="2709333" w="1301213">
                  <a:moveTo>
                    <a:pt x="0" y="0"/>
                  </a:moveTo>
                  <a:lnTo>
                    <a:pt x="1301213" y="0"/>
                  </a:lnTo>
                  <a:lnTo>
                    <a:pt x="1301213" y="2709333"/>
                  </a:lnTo>
                  <a:lnTo>
                    <a:pt x="0" y="2709333"/>
                  </a:lnTo>
                  <a:close/>
                </a:path>
              </a:pathLst>
            </a:custGeom>
            <a:solidFill>
              <a:srgbClr val="00949D"/>
            </a:solidFill>
          </p:spPr>
        </p:sp>
        <p:sp>
          <p:nvSpPr>
            <p:cNvPr name="TextBox 5" id="5"/>
            <p:cNvSpPr txBox="true"/>
            <p:nvPr/>
          </p:nvSpPr>
          <p:spPr>
            <a:xfrm>
              <a:off x="0" y="-38100"/>
              <a:ext cx="130121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1727805"/>
            <a:ext cx="12549242" cy="5061903"/>
          </a:xfrm>
          <a:prstGeom prst="rect">
            <a:avLst/>
          </a:prstGeom>
        </p:spPr>
        <p:txBody>
          <a:bodyPr anchor="t" rtlCol="false" tIns="0" lIns="0" bIns="0" rIns="0">
            <a:spAutoFit/>
          </a:bodyPr>
          <a:lstStyle/>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All students are intrinsically motivated to self actualize or learn</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Learning is dependent upon meeting a hierarchy of needs (physiological, psychological and intellectual)</a:t>
            </a:r>
          </a:p>
          <a:p>
            <a:pPr algn="l" marL="755646" indent="-377823" lvl="1">
              <a:lnSpc>
                <a:spcPts val="5949"/>
              </a:lnSpc>
              <a:buFont typeface="Arial"/>
              <a:buChar char="•"/>
            </a:pPr>
            <a:r>
              <a:rPr lang="en-US" sz="3499" spc="136">
                <a:solidFill>
                  <a:srgbClr val="007076"/>
                </a:solidFill>
                <a:latin typeface="Montserrat"/>
                <a:ea typeface="Montserrat"/>
                <a:cs typeface="Montserrat"/>
                <a:sym typeface="Montserrat"/>
              </a:rPr>
              <a:t>Learning should be reinforced.</a:t>
            </a:r>
          </a:p>
          <a:p>
            <a:pPr algn="l">
              <a:lnSpc>
                <a:spcPts val="3794"/>
              </a:lnSpc>
              <a:spcBef>
                <a:spcPct val="0"/>
              </a:spcBef>
            </a:pPr>
          </a:p>
        </p:txBody>
      </p:sp>
      <p:sp>
        <p:nvSpPr>
          <p:cNvPr name="TextBox 8" id="8"/>
          <p:cNvSpPr txBox="true"/>
          <p:nvPr/>
        </p:nvSpPr>
        <p:spPr>
          <a:xfrm rot="0">
            <a:off x="798214" y="473253"/>
            <a:ext cx="12549242"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HUMANIST</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sp>
        <p:nvSpPr>
          <p:cNvPr name="Freeform 3" id="3"/>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38876" y="1808392"/>
            <a:ext cx="17949124" cy="8153019"/>
          </a:xfrm>
          <a:prstGeom prst="rect">
            <a:avLst/>
          </a:prstGeom>
        </p:spPr>
        <p:txBody>
          <a:bodyPr anchor="t" rtlCol="false" tIns="0" lIns="0" bIns="0" rIns="0">
            <a:spAutoFit/>
          </a:bodyPr>
          <a:lstStyle/>
          <a:p>
            <a:pPr algn="l" marL="712467" indent="-356233" lvl="1">
              <a:lnSpc>
                <a:spcPts val="3662"/>
              </a:lnSpc>
              <a:buFont typeface="Arial"/>
              <a:buChar char="•"/>
            </a:pPr>
            <a:r>
              <a:rPr lang="en-US" sz="3299" spc="128">
                <a:solidFill>
                  <a:srgbClr val="007076"/>
                </a:solidFill>
                <a:latin typeface="Montserrat"/>
                <a:ea typeface="Montserrat"/>
                <a:cs typeface="Montserrat"/>
                <a:sym typeface="Montserrat"/>
              </a:rPr>
              <a:t>Cherry, K. (2022). What is Operant Conditioning? How Reinforcement and Punishment Modify Behavior. Verywellmind. Behavioral Psychology</a:t>
            </a:r>
          </a:p>
          <a:p>
            <a:pPr algn="l">
              <a:lnSpc>
                <a:spcPts val="3662"/>
              </a:lnSpc>
            </a:pPr>
          </a:p>
          <a:p>
            <a:pPr algn="l" marL="755646" indent="-377823" lvl="1">
              <a:lnSpc>
                <a:spcPts val="3884"/>
              </a:lnSpc>
              <a:buFont typeface="Arial"/>
              <a:buChar char="•"/>
            </a:pPr>
            <a:r>
              <a:rPr lang="en-US" sz="3499" spc="136">
                <a:solidFill>
                  <a:srgbClr val="007076"/>
                </a:solidFill>
                <a:latin typeface="Montserrat"/>
                <a:ea typeface="Montserrat"/>
                <a:cs typeface="Montserrat"/>
                <a:sym typeface="Montserrat"/>
              </a:rPr>
              <a:t>Cherry, K. (2022). B.F. Skinner’s Life, Theories, and Psychology. Skinner studied operant conditioning and believed in radical behaviorism. Verywellmind. History and Biographies</a:t>
            </a:r>
          </a:p>
          <a:p>
            <a:pPr algn="l">
              <a:lnSpc>
                <a:spcPts val="3884"/>
              </a:lnSpc>
            </a:pPr>
          </a:p>
          <a:p>
            <a:pPr algn="l" marL="755646" indent="-377823" lvl="1">
              <a:lnSpc>
                <a:spcPts val="3884"/>
              </a:lnSpc>
              <a:buFont typeface="Arial"/>
              <a:buChar char="•"/>
            </a:pPr>
            <a:r>
              <a:rPr lang="en-US" sz="3499" spc="136">
                <a:solidFill>
                  <a:srgbClr val="007076"/>
                </a:solidFill>
                <a:latin typeface="Montserrat"/>
                <a:ea typeface="Montserrat"/>
                <a:cs typeface="Montserrat"/>
                <a:sym typeface="Montserrat"/>
              </a:rPr>
              <a:t>Wolpe J, Plaud JJ. Pavlov's contributions to behavior therapy. The obvious and not so obvious. Am Psychol. 1997;52(9):966-72.</a:t>
            </a:r>
          </a:p>
          <a:p>
            <a:pPr algn="l">
              <a:lnSpc>
                <a:spcPts val="3884"/>
              </a:lnSpc>
            </a:pPr>
          </a:p>
          <a:p>
            <a:pPr algn="l" marL="755646" indent="-377823" lvl="1">
              <a:lnSpc>
                <a:spcPts val="3884"/>
              </a:lnSpc>
              <a:buFont typeface="Arial"/>
              <a:buChar char="•"/>
            </a:pPr>
            <a:r>
              <a:rPr lang="en-US" sz="3499" spc="136">
                <a:solidFill>
                  <a:srgbClr val="007076"/>
                </a:solidFill>
                <a:latin typeface="Montserrat"/>
                <a:ea typeface="Montserrat"/>
                <a:cs typeface="Montserrat"/>
                <a:sym typeface="Montserrat"/>
              </a:rPr>
              <a:t>Bhasin, H. (2019). What is the Importance of Learning (In Any Stage of Life). Marketing91</a:t>
            </a:r>
          </a:p>
          <a:p>
            <a:pPr algn="l">
              <a:lnSpc>
                <a:spcPts val="3884"/>
              </a:lnSpc>
            </a:pPr>
          </a:p>
          <a:p>
            <a:pPr algn="l" marL="755646" indent="-377823" lvl="1">
              <a:lnSpc>
                <a:spcPts val="3884"/>
              </a:lnSpc>
              <a:buFont typeface="Arial"/>
              <a:buChar char="•"/>
            </a:pPr>
            <a:r>
              <a:rPr lang="en-US" sz="3499" spc="136">
                <a:solidFill>
                  <a:srgbClr val="007076"/>
                </a:solidFill>
                <a:latin typeface="Montserrat"/>
                <a:ea typeface="Montserrat"/>
                <a:cs typeface="Montserrat"/>
                <a:sym typeface="Montserrat"/>
              </a:rPr>
              <a:t>Armstrong, T. (n.d.). Multiple Intelligences. American Institute for Learning and Human Development. institute4learning</a:t>
            </a:r>
          </a:p>
          <a:p>
            <a:pPr algn="l">
              <a:lnSpc>
                <a:spcPts val="3884"/>
              </a:lnSpc>
            </a:pPr>
          </a:p>
          <a:p>
            <a:pPr algn="l">
              <a:lnSpc>
                <a:spcPts val="3662"/>
              </a:lnSpc>
            </a:pPr>
          </a:p>
        </p:txBody>
      </p:sp>
      <p:sp>
        <p:nvSpPr>
          <p:cNvPr name="TextBox 5" id="5"/>
          <p:cNvSpPr txBox="true"/>
          <p:nvPr/>
        </p:nvSpPr>
        <p:spPr>
          <a:xfrm rot="0">
            <a:off x="798214" y="473253"/>
            <a:ext cx="12549242" cy="1025525"/>
          </a:xfrm>
          <a:prstGeom prst="rect">
            <a:avLst/>
          </a:prstGeom>
        </p:spPr>
        <p:txBody>
          <a:bodyPr anchor="t" rtlCol="false" tIns="0" lIns="0" bIns="0" rIns="0">
            <a:spAutoFit/>
          </a:bodyPr>
          <a:lstStyle/>
          <a:p>
            <a:pPr algn="l">
              <a:lnSpc>
                <a:spcPts val="8049"/>
              </a:lnSpc>
            </a:pPr>
            <a:r>
              <a:rPr lang="en-US" sz="6999" spc="272">
                <a:solidFill>
                  <a:srgbClr val="007076"/>
                </a:solidFill>
                <a:latin typeface="Anton"/>
                <a:ea typeface="Anton"/>
                <a:cs typeface="Anton"/>
                <a:sym typeface="Anton"/>
              </a:rPr>
              <a:t>REFERENCES</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518" r="0" b="-9518"/>
            </a:stretch>
          </a:blipFill>
        </p:spPr>
      </p:sp>
      <p:grpSp>
        <p:nvGrpSpPr>
          <p:cNvPr name="Group 3" id="3"/>
          <p:cNvGrpSpPr/>
          <p:nvPr/>
        </p:nvGrpSpPr>
        <p:grpSpPr>
          <a:xfrm rot="-2700000">
            <a:off x="7278105" y="4560546"/>
            <a:ext cx="16683427" cy="7187469"/>
            <a:chOff x="0" y="0"/>
            <a:chExt cx="4393989" cy="1892996"/>
          </a:xfrm>
        </p:grpSpPr>
        <p:sp>
          <p:nvSpPr>
            <p:cNvPr name="Freeform 4" id="4"/>
            <p:cNvSpPr/>
            <p:nvPr/>
          </p:nvSpPr>
          <p:spPr>
            <a:xfrm flipH="false" flipV="false" rot="0">
              <a:off x="0" y="0"/>
              <a:ext cx="4393989" cy="1892996"/>
            </a:xfrm>
            <a:custGeom>
              <a:avLst/>
              <a:gdLst/>
              <a:ahLst/>
              <a:cxnLst/>
              <a:rect r="r" b="b" t="t" l="l"/>
              <a:pathLst>
                <a:path h="1892996" w="4393989">
                  <a:moveTo>
                    <a:pt x="0" y="0"/>
                  </a:moveTo>
                  <a:lnTo>
                    <a:pt x="4393989" y="0"/>
                  </a:lnTo>
                  <a:lnTo>
                    <a:pt x="4393989" y="1892996"/>
                  </a:lnTo>
                  <a:lnTo>
                    <a:pt x="0" y="1892996"/>
                  </a:lnTo>
                  <a:close/>
                </a:path>
              </a:pathLst>
            </a:custGeom>
            <a:solidFill>
              <a:srgbClr val="00B2BD">
                <a:alpha val="1961"/>
              </a:srgbClr>
            </a:solidFill>
          </p:spPr>
        </p:sp>
        <p:sp>
          <p:nvSpPr>
            <p:cNvPr name="TextBox 5" id="5"/>
            <p:cNvSpPr txBox="true"/>
            <p:nvPr/>
          </p:nvSpPr>
          <p:spPr>
            <a:xfrm>
              <a:off x="0" y="-38100"/>
              <a:ext cx="4393989" cy="19310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109126" y="2541232"/>
            <a:ext cx="12178874" cy="7745768"/>
            <a:chOff x="0" y="0"/>
            <a:chExt cx="16238499" cy="10327691"/>
          </a:xfrm>
        </p:grpSpPr>
        <p:pic>
          <p:nvPicPr>
            <p:cNvPr name="Picture 7" id="7"/>
            <p:cNvPicPr>
              <a:picLocks noChangeAspect="true"/>
            </p:cNvPicPr>
            <p:nvPr/>
          </p:nvPicPr>
          <p:blipFill>
            <a:blip r:embed="rId3"/>
            <a:srcRect l="0" t="19" r="0" b="19"/>
            <a:stretch>
              <a:fillRect/>
            </a:stretch>
          </p:blipFill>
          <p:spPr>
            <a:xfrm flipH="false" flipV="false">
              <a:off x="0" y="0"/>
              <a:ext cx="16238499" cy="10327691"/>
            </a:xfrm>
            <a:prstGeom prst="rect">
              <a:avLst/>
            </a:prstGeom>
          </p:spPr>
        </p:pic>
      </p:grpSp>
      <p:sp>
        <p:nvSpPr>
          <p:cNvPr name="Freeform 8" id="8"/>
          <p:cNvSpPr/>
          <p:nvPr/>
        </p:nvSpPr>
        <p:spPr>
          <a:xfrm flipH="false" flipV="false" rot="0">
            <a:off x="15998111" y="435153"/>
            <a:ext cx="1261189" cy="1187094"/>
          </a:xfrm>
          <a:custGeom>
            <a:avLst/>
            <a:gdLst/>
            <a:ahLst/>
            <a:cxnLst/>
            <a:rect r="r" b="b" t="t" l="l"/>
            <a:pathLst>
              <a:path h="1187094" w="1261189">
                <a:moveTo>
                  <a:pt x="0" y="0"/>
                </a:moveTo>
                <a:lnTo>
                  <a:pt x="1261189" y="0"/>
                </a:lnTo>
                <a:lnTo>
                  <a:pt x="1261189" y="1187094"/>
                </a:lnTo>
                <a:lnTo>
                  <a:pt x="0" y="1187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028700" y="1028700"/>
            <a:ext cx="1496914" cy="362504"/>
            <a:chOff x="0" y="0"/>
            <a:chExt cx="1678175" cy="406400"/>
          </a:xfrm>
        </p:grpSpPr>
        <p:sp>
          <p:nvSpPr>
            <p:cNvPr name="Freeform 10" id="10"/>
            <p:cNvSpPr/>
            <p:nvPr/>
          </p:nvSpPr>
          <p:spPr>
            <a:xfrm flipH="false" flipV="false" rot="0">
              <a:off x="0" y="0"/>
              <a:ext cx="1678175" cy="406400"/>
            </a:xfrm>
            <a:custGeom>
              <a:avLst/>
              <a:gdLst/>
              <a:ahLst/>
              <a:cxnLst/>
              <a:rect r="r" b="b" t="t" l="l"/>
              <a:pathLst>
                <a:path h="406400" w="1678175">
                  <a:moveTo>
                    <a:pt x="1474975" y="0"/>
                  </a:moveTo>
                  <a:cubicBezTo>
                    <a:pt x="1587200" y="0"/>
                    <a:pt x="1678175" y="90976"/>
                    <a:pt x="1678175" y="203200"/>
                  </a:cubicBezTo>
                  <a:cubicBezTo>
                    <a:pt x="1678175" y="315424"/>
                    <a:pt x="1587200" y="406400"/>
                    <a:pt x="1474975" y="406400"/>
                  </a:cubicBezTo>
                  <a:lnTo>
                    <a:pt x="203200" y="406400"/>
                  </a:lnTo>
                  <a:cubicBezTo>
                    <a:pt x="90976" y="406400"/>
                    <a:pt x="0" y="315424"/>
                    <a:pt x="0" y="203200"/>
                  </a:cubicBezTo>
                  <a:cubicBezTo>
                    <a:pt x="0" y="90976"/>
                    <a:pt x="90976" y="0"/>
                    <a:pt x="203200" y="0"/>
                  </a:cubicBezTo>
                  <a:close/>
                </a:path>
              </a:pathLst>
            </a:custGeom>
            <a:solidFill>
              <a:srgbClr val="00B2BD"/>
            </a:solidFill>
          </p:spPr>
        </p:sp>
        <p:sp>
          <p:nvSpPr>
            <p:cNvPr name="TextBox 11" id="11"/>
            <p:cNvSpPr txBox="true"/>
            <p:nvPr/>
          </p:nvSpPr>
          <p:spPr>
            <a:xfrm>
              <a:off x="0" y="-38100"/>
              <a:ext cx="1678175" cy="444500"/>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rot="0">
            <a:off x="2525614" y="1190902"/>
            <a:ext cx="3626498" cy="38100"/>
          </a:xfrm>
          <a:prstGeom prst="line">
            <a:avLst/>
          </a:prstGeom>
          <a:ln cap="flat" w="38100">
            <a:solidFill>
              <a:srgbClr val="00B2BD"/>
            </a:solidFill>
            <a:prstDash val="solid"/>
            <a:headEnd type="none" len="sm" w="sm"/>
            <a:tailEnd type="none" len="sm" w="sm"/>
          </a:ln>
        </p:spPr>
      </p:sp>
      <p:sp>
        <p:nvSpPr>
          <p:cNvPr name="Freeform 13" id="13"/>
          <p:cNvSpPr/>
          <p:nvPr/>
        </p:nvSpPr>
        <p:spPr>
          <a:xfrm flipH="false" flipV="false" rot="0">
            <a:off x="1028700" y="5825715"/>
            <a:ext cx="284175" cy="284175"/>
          </a:xfrm>
          <a:custGeom>
            <a:avLst/>
            <a:gdLst/>
            <a:ahLst/>
            <a:cxnLst/>
            <a:rect r="r" b="b" t="t" l="l"/>
            <a:pathLst>
              <a:path h="284175" w="284175">
                <a:moveTo>
                  <a:pt x="0" y="0"/>
                </a:moveTo>
                <a:lnTo>
                  <a:pt x="284175" y="0"/>
                </a:lnTo>
                <a:lnTo>
                  <a:pt x="284175" y="284174"/>
                </a:lnTo>
                <a:lnTo>
                  <a:pt x="0" y="2841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398600" y="5825715"/>
            <a:ext cx="284175" cy="284175"/>
          </a:xfrm>
          <a:custGeom>
            <a:avLst/>
            <a:gdLst/>
            <a:ahLst/>
            <a:cxnLst/>
            <a:rect r="r" b="b" t="t" l="l"/>
            <a:pathLst>
              <a:path h="284175" w="284175">
                <a:moveTo>
                  <a:pt x="0" y="0"/>
                </a:moveTo>
                <a:lnTo>
                  <a:pt x="284175" y="0"/>
                </a:lnTo>
                <a:lnTo>
                  <a:pt x="284175" y="284174"/>
                </a:lnTo>
                <a:lnTo>
                  <a:pt x="0" y="2841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768500" y="5825715"/>
            <a:ext cx="284175" cy="284175"/>
          </a:xfrm>
          <a:custGeom>
            <a:avLst/>
            <a:gdLst/>
            <a:ahLst/>
            <a:cxnLst/>
            <a:rect r="r" b="b" t="t" l="l"/>
            <a:pathLst>
              <a:path h="284175" w="284175">
                <a:moveTo>
                  <a:pt x="0" y="0"/>
                </a:moveTo>
                <a:lnTo>
                  <a:pt x="284174" y="0"/>
                </a:lnTo>
                <a:lnTo>
                  <a:pt x="284174" y="284174"/>
                </a:lnTo>
                <a:lnTo>
                  <a:pt x="0" y="2841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12263663" y="865695"/>
            <a:ext cx="3595462" cy="373634"/>
          </a:xfrm>
          <a:prstGeom prst="rect">
            <a:avLst/>
          </a:prstGeom>
        </p:spPr>
        <p:txBody>
          <a:bodyPr anchor="t" rtlCol="false" tIns="0" lIns="0" bIns="0" rIns="0">
            <a:spAutoFit/>
          </a:bodyPr>
          <a:lstStyle/>
          <a:p>
            <a:pPr algn="r">
              <a:lnSpc>
                <a:spcPts val="2968"/>
              </a:lnSpc>
            </a:pPr>
            <a:r>
              <a:rPr lang="en-US" sz="2800" spc="-75">
                <a:solidFill>
                  <a:srgbClr val="007076"/>
                </a:solidFill>
                <a:latin typeface="Montserrat Semi-Bold"/>
                <a:ea typeface="Montserrat Semi-Bold"/>
                <a:cs typeface="Montserrat Semi-Bold"/>
                <a:sym typeface="Montserrat Semi-Bold"/>
              </a:rPr>
              <a:t>Logo Here</a:t>
            </a:r>
          </a:p>
        </p:txBody>
      </p:sp>
      <p:sp>
        <p:nvSpPr>
          <p:cNvPr name="TextBox 17" id="17"/>
          <p:cNvSpPr txBox="true"/>
          <p:nvPr/>
        </p:nvSpPr>
        <p:spPr>
          <a:xfrm rot="0">
            <a:off x="1028700" y="1550247"/>
            <a:ext cx="9695620" cy="2041795"/>
          </a:xfrm>
          <a:prstGeom prst="rect">
            <a:avLst/>
          </a:prstGeom>
        </p:spPr>
        <p:txBody>
          <a:bodyPr anchor="t" rtlCol="false" tIns="0" lIns="0" bIns="0" rIns="0">
            <a:spAutoFit/>
          </a:bodyPr>
          <a:lstStyle/>
          <a:p>
            <a:pPr algn="l">
              <a:lnSpc>
                <a:spcPts val="16725"/>
              </a:lnSpc>
            </a:pPr>
            <a:r>
              <a:rPr lang="en-US" sz="11947" spc="465">
                <a:solidFill>
                  <a:srgbClr val="292929"/>
                </a:solidFill>
                <a:latin typeface="Anton"/>
                <a:ea typeface="Anton"/>
                <a:cs typeface="Anton"/>
                <a:sym typeface="Anton"/>
              </a:rPr>
              <a:t>THANK</a:t>
            </a:r>
          </a:p>
        </p:txBody>
      </p:sp>
      <p:sp>
        <p:nvSpPr>
          <p:cNvPr name="TextBox 18" id="18"/>
          <p:cNvSpPr txBox="true"/>
          <p:nvPr/>
        </p:nvSpPr>
        <p:spPr>
          <a:xfrm rot="0">
            <a:off x="1028700" y="3101705"/>
            <a:ext cx="9695620" cy="2041795"/>
          </a:xfrm>
          <a:prstGeom prst="rect">
            <a:avLst/>
          </a:prstGeom>
        </p:spPr>
        <p:txBody>
          <a:bodyPr anchor="t" rtlCol="false" tIns="0" lIns="0" bIns="0" rIns="0">
            <a:spAutoFit/>
          </a:bodyPr>
          <a:lstStyle/>
          <a:p>
            <a:pPr algn="l">
              <a:lnSpc>
                <a:spcPts val="16725"/>
              </a:lnSpc>
            </a:pPr>
            <a:r>
              <a:rPr lang="en-US" sz="11947" spc="465">
                <a:solidFill>
                  <a:srgbClr val="292929"/>
                </a:solidFill>
                <a:latin typeface="Anton"/>
                <a:ea typeface="Anton"/>
                <a:cs typeface="Anton"/>
                <a:sym typeface="Anto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DAFZZH-uAaA</dc:identifier>
  <dcterms:modified xsi:type="dcterms:W3CDTF">2011-08-01T06:04:30Z</dcterms:modified>
  <cp:revision>1</cp:revision>
  <dc:title>Copy of White and Blue Modern Business Presentation</dc:title>
</cp:coreProperties>
</file>